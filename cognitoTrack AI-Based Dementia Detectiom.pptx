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924" r:id="rId1"/>
  </p:sldMasterIdLst>
  <p:notesMasterIdLst>
    <p:notesMasterId r:id="rId15"/>
  </p:notesMasterIdLst>
  <p:sldIdLst>
    <p:sldId id="267" r:id="rId2"/>
    <p:sldId id="256" r:id="rId3"/>
    <p:sldId id="268" r:id="rId4"/>
    <p:sldId id="269" r:id="rId5"/>
    <p:sldId id="257" r:id="rId6"/>
    <p:sldId id="259" r:id="rId7"/>
    <p:sldId id="260" r:id="rId8"/>
    <p:sldId id="270" r:id="rId9"/>
    <p:sldId id="258" r:id="rId10"/>
    <p:sldId id="279" r:id="rId11"/>
    <p:sldId id="271" r:id="rId12"/>
    <p:sldId id="265" r:id="rId13"/>
    <p:sldId id="266" r:id="rId14"/>
  </p:sldIdLst>
  <p:sldSz cx="14630400" cy="8229600"/>
  <p:notesSz cx="8229600" cy="14630400"/>
  <p:embeddedFontLst>
    <p:embeddedFont>
      <p:font typeface="Century Gothic" panose="020B0502020202020204" pitchFamily="34" charset="0"/>
      <p:regular r:id="rId16"/>
      <p:bold r:id="rId17"/>
      <p:italic r:id="rId18"/>
      <p:boldItalic r:id="rId19"/>
    </p:embeddedFont>
    <p:embeddedFont>
      <p:font typeface="Garamond" panose="02020404030301010803" pitchFamily="18" charset="0"/>
      <p:regular r:id="rId20"/>
      <p:bold r:id="rId21"/>
      <p:italic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FE708C-C74D-40F4-AA3C-AAC679091F1E}" v="5" dt="2026-02-06T19:07:06.8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4805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4630400" cy="82296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569444" y="1521276"/>
            <a:ext cx="11491514" cy="516954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737361" y="1693938"/>
            <a:ext cx="11155680" cy="4841724"/>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6163056" y="1521276"/>
            <a:ext cx="2304288" cy="8778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6300216" y="1521277"/>
            <a:ext cx="2029968" cy="774354"/>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874050" y="2509516"/>
            <a:ext cx="10882303" cy="3108960"/>
          </a:xfrm>
        </p:spPr>
        <p:txBody>
          <a:bodyPr tIns="45720" bIns="45720" anchor="ctr">
            <a:noAutofit/>
          </a:bodyPr>
          <a:lstStyle>
            <a:lvl1pPr algn="ctr">
              <a:lnSpc>
                <a:spcPct val="83000"/>
              </a:lnSpc>
              <a:defRPr lang="en-US" sz="8640" b="0" kern="1200" cap="all" spc="-12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874520" y="5618475"/>
            <a:ext cx="10885018" cy="548641"/>
          </a:xfrm>
        </p:spPr>
        <p:txBody>
          <a:bodyPr>
            <a:normAutofit/>
          </a:bodyPr>
          <a:lstStyle>
            <a:lvl1pPr marL="0" indent="0" algn="ctr">
              <a:spcBef>
                <a:spcPts val="0"/>
              </a:spcBef>
              <a:buNone/>
              <a:defRPr sz="1920" spc="96" baseline="0">
                <a:solidFill>
                  <a:schemeClr val="tx1"/>
                </a:solidFill>
              </a:defRPr>
            </a:lvl1pPr>
            <a:lvl2pPr marL="548640" indent="0" algn="ctr">
              <a:buNone/>
              <a:defRPr sz="1920"/>
            </a:lvl2pPr>
            <a:lvl3pPr marL="1097280" indent="0" algn="ctr">
              <a:buNone/>
              <a:defRPr sz="192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20" name="Date Placeholder 19"/>
          <p:cNvSpPr>
            <a:spLocks noGrp="1"/>
          </p:cNvSpPr>
          <p:nvPr>
            <p:ph type="dt" sz="half" idx="10"/>
          </p:nvPr>
        </p:nvSpPr>
        <p:spPr>
          <a:xfrm>
            <a:off x="6382512" y="1609506"/>
            <a:ext cx="1865376" cy="632656"/>
          </a:xfrm>
        </p:spPr>
        <p:txBody>
          <a:bodyPr/>
          <a:lstStyle>
            <a:lvl1pPr algn="ctr">
              <a:defRPr sz="1560" spc="0" baseline="0">
                <a:solidFill>
                  <a:schemeClr val="tx1"/>
                </a:solidFill>
                <a:latin typeface="+mn-lt"/>
              </a:defRPr>
            </a:lvl1pPr>
          </a:lstStyle>
          <a:p>
            <a:fld id="{B61BEF0D-F0BB-DE4B-95CE-6DB70DBA9567}" type="datetimeFigureOut">
              <a:rPr lang="en-US" smtClean="0"/>
              <a:pPr/>
              <a:t>3/31/2026</a:t>
            </a:fld>
            <a:endParaRPr lang="en-US" dirty="0"/>
          </a:p>
        </p:txBody>
      </p:sp>
      <p:sp>
        <p:nvSpPr>
          <p:cNvPr id="21" name="Footer Placeholder 20"/>
          <p:cNvSpPr>
            <a:spLocks noGrp="1"/>
          </p:cNvSpPr>
          <p:nvPr>
            <p:ph type="ftr" sz="quarter" idx="11"/>
          </p:nvPr>
        </p:nvSpPr>
        <p:spPr>
          <a:xfrm>
            <a:off x="1744675" y="6253272"/>
            <a:ext cx="7086600" cy="27432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10328304" y="6254496"/>
            <a:ext cx="2534257" cy="274320"/>
          </a:xfrm>
        </p:spPr>
        <p:txBody>
          <a:bodyPr/>
          <a:lstStyle>
            <a:lvl1pPr>
              <a:defRPr>
                <a:solidFill>
                  <a:schemeClr val="tx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894963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8669240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4630400" cy="82296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569444" y="1521276"/>
            <a:ext cx="11491514" cy="516954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737360" y="1693938"/>
            <a:ext cx="11155680" cy="4841724"/>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6163056" y="1521276"/>
            <a:ext cx="2304288" cy="8778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6300216" y="1521277"/>
            <a:ext cx="2029968" cy="774354"/>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876347" y="2513171"/>
            <a:ext cx="10885018" cy="3105302"/>
          </a:xfrm>
        </p:spPr>
        <p:txBody>
          <a:bodyPr anchor="ctr">
            <a:noAutofit/>
          </a:bodyPr>
          <a:lstStyle>
            <a:lvl1pPr algn="ctr">
              <a:lnSpc>
                <a:spcPct val="83000"/>
              </a:lnSpc>
              <a:defRPr lang="en-US" sz="8640" kern="1200" cap="all" spc="-12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876349" y="5618474"/>
            <a:ext cx="10885018" cy="548640"/>
          </a:xfrm>
        </p:spPr>
        <p:txBody>
          <a:bodyPr anchor="t">
            <a:normAutofit/>
          </a:bodyPr>
          <a:lstStyle>
            <a:lvl1pPr marL="0" indent="0" algn="ctr">
              <a:buNone/>
              <a:defRPr sz="1920">
                <a:solidFill>
                  <a:schemeClr val="tx1"/>
                </a:solidFill>
                <a:effectLst/>
              </a:defRPr>
            </a:lvl1pPr>
            <a:lvl2pPr marL="548640" indent="0">
              <a:buNone/>
              <a:defRPr sz="192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386170" y="1613403"/>
            <a:ext cx="1865376" cy="636422"/>
          </a:xfrm>
        </p:spPr>
        <p:txBody>
          <a:bodyPr/>
          <a:lstStyle>
            <a:lvl1pPr algn="ctr">
              <a:defRPr lang="en-US" sz="1560" kern="1200" spc="0" baseline="0">
                <a:solidFill>
                  <a:schemeClr val="tx1"/>
                </a:solidFill>
                <a:latin typeface="+mn-lt"/>
                <a:ea typeface="+mn-ea"/>
                <a:cs typeface="+mn-cs"/>
              </a:defRPr>
            </a:lvl1p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11"/>
          </p:nvPr>
        </p:nvSpPr>
        <p:spPr>
          <a:xfrm>
            <a:off x="1744264" y="6253272"/>
            <a:ext cx="7088429" cy="27432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10325405" y="6253272"/>
            <a:ext cx="2534717" cy="27432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38594"/>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80160" y="2523744"/>
            <a:ext cx="5705856" cy="4498848"/>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44384" y="2523744"/>
            <a:ext cx="5705856" cy="4498848"/>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803827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83818" y="2489201"/>
            <a:ext cx="5705856" cy="768096"/>
          </a:xfrm>
        </p:spPr>
        <p:txBody>
          <a:bodyPr anchor="ctr">
            <a:normAutofit/>
          </a:bodyPr>
          <a:lstStyle>
            <a:lvl1pPr marL="0" indent="0" algn="ctr">
              <a:spcBef>
                <a:spcPts val="0"/>
              </a:spcBef>
              <a:buNone/>
              <a:defRPr sz="2280" b="0">
                <a:solidFill>
                  <a:schemeClr val="tx2"/>
                </a:solidFill>
                <a:latin typeface="+mn-lt"/>
              </a:defRPr>
            </a:lvl1pPr>
            <a:lvl2pPr marL="548640" indent="0">
              <a:buNone/>
              <a:defRPr sz="228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283818" y="3307078"/>
            <a:ext cx="5705856" cy="3840480"/>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48042" y="2489201"/>
            <a:ext cx="5705856" cy="768096"/>
          </a:xfrm>
        </p:spPr>
        <p:txBody>
          <a:bodyPr anchor="ctr">
            <a:normAutofit/>
          </a:bodyPr>
          <a:lstStyle>
            <a:lvl1pPr marL="0" indent="0" algn="ctr">
              <a:spcBef>
                <a:spcPts val="0"/>
              </a:spcBef>
              <a:buNone/>
              <a:defRPr sz="2280" b="0">
                <a:solidFill>
                  <a:schemeClr val="tx2"/>
                </a:solidFill>
              </a:defRPr>
            </a:lvl1pPr>
            <a:lvl2pPr marL="548640" indent="0">
              <a:buNone/>
              <a:defRPr sz="228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648042" y="3307897"/>
            <a:ext cx="5705856" cy="3840480"/>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622021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3543539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940400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94635" y="285293"/>
            <a:ext cx="10237622" cy="76590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824463" y="285293"/>
            <a:ext cx="3511296" cy="76590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155680" y="728870"/>
            <a:ext cx="2916936" cy="1975104"/>
          </a:xfrm>
        </p:spPr>
        <p:txBody>
          <a:bodyPr anchor="b">
            <a:normAutofit/>
          </a:bodyPr>
          <a:lstStyle>
            <a:lvl1pPr algn="l" defTabSz="1097280" rtl="0" eaLnBrk="1" latinLnBrk="0" hangingPunct="1">
              <a:lnSpc>
                <a:spcPct val="90000"/>
              </a:lnSpc>
              <a:spcBef>
                <a:spcPct val="0"/>
              </a:spcBef>
              <a:buNone/>
              <a:defRPr lang="en-US" sz="336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822960" y="731520"/>
            <a:ext cx="9326880" cy="6400800"/>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0" y="2743200"/>
            <a:ext cx="2916936" cy="4206240"/>
          </a:xfrm>
        </p:spPr>
        <p:txBody>
          <a:bodyPr>
            <a:normAutofit/>
          </a:bodyPr>
          <a:lstStyle>
            <a:lvl1pPr marL="0" indent="0">
              <a:lnSpc>
                <a:spcPct val="110000"/>
              </a:lnSpc>
              <a:spcBef>
                <a:spcPts val="960"/>
              </a:spcBef>
              <a:buNone/>
              <a:defRPr sz="168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8" name="Date Placeholder 7"/>
          <p:cNvSpPr>
            <a:spLocks noGrp="1"/>
          </p:cNvSpPr>
          <p:nvPr>
            <p:ph type="dt" sz="half" idx="10"/>
          </p:nvPr>
        </p:nvSpPr>
        <p:spPr/>
        <p:txBody>
          <a:bodyPr/>
          <a:lstStyle/>
          <a:p>
            <a:fld id="{42A54C80-263E-416B-A8E0-580EDEADCBDC}" type="datetimeFigureOut">
              <a:rPr lang="en-US" smtClean="0"/>
              <a:t>3/31/2026</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2472412" y="7467602"/>
            <a:ext cx="1755648" cy="329184"/>
          </a:xfrm>
        </p:spPr>
        <p:txBody>
          <a:bodyPr/>
          <a:lstStyle>
            <a:lvl1pPr>
              <a:defRPr>
                <a:solidFill>
                  <a:srgbClr val="FFFFFF"/>
                </a:solidFill>
              </a:defRPr>
            </a:lvl1pPr>
          </a:lstStyle>
          <a:p>
            <a:fld id="{519954A3-9DFD-4C44-94BA-B95130A3BA1C}" type="slidenum">
              <a:rPr lang="en-US" smtClean="0"/>
              <a:t>‹#›</a:t>
            </a:fld>
            <a:endParaRPr lang="en-US" dirty="0"/>
          </a:p>
        </p:txBody>
      </p:sp>
      <p:sp>
        <p:nvSpPr>
          <p:cNvPr id="12" name="Rectangle 11"/>
          <p:cNvSpPr/>
          <p:nvPr/>
        </p:nvSpPr>
        <p:spPr>
          <a:xfrm>
            <a:off x="10989055" y="449885"/>
            <a:ext cx="3182112" cy="732983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0690863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10824463" y="285293"/>
            <a:ext cx="3511296" cy="76590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155680" y="724205"/>
            <a:ext cx="2918765" cy="1975104"/>
          </a:xfrm>
        </p:spPr>
        <p:txBody>
          <a:bodyPr anchor="b">
            <a:noAutofit/>
          </a:bodyPr>
          <a:lstStyle>
            <a:lvl1pPr algn="l">
              <a:defRPr sz="336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74319" y="285293"/>
            <a:ext cx="10237622" cy="7659014"/>
          </a:xfrm>
          <a:solidFill>
            <a:schemeClr val="accent1">
              <a:lumMod val="60000"/>
              <a:lumOff val="40000"/>
            </a:schemeClr>
          </a:solidFill>
          <a:ln>
            <a:noFill/>
          </a:ln>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1155680" y="2743200"/>
            <a:ext cx="2918765" cy="4202582"/>
          </a:xfrm>
        </p:spPr>
        <p:txBody>
          <a:bodyPr>
            <a:normAutofit/>
          </a:bodyPr>
          <a:lstStyle>
            <a:lvl1pPr marL="0" indent="0" algn="l">
              <a:lnSpc>
                <a:spcPct val="110000"/>
              </a:lnSpc>
              <a:spcBef>
                <a:spcPts val="960"/>
              </a:spcBef>
              <a:buNone/>
              <a:defRPr sz="168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B61BEF0D-F0BB-DE4B-95CE-6DB70DBA9567}" type="datetimeFigureOut">
              <a:rPr lang="en-US" smtClean="0"/>
              <a:pPr/>
              <a:t>3/31/2026</a:t>
            </a:fld>
            <a:endParaRPr lang="en-US" dirty="0"/>
          </a:p>
        </p:txBody>
      </p:sp>
      <p:sp>
        <p:nvSpPr>
          <p:cNvPr id="6" name="Footer Placeholder 5"/>
          <p:cNvSpPr>
            <a:spLocks noGrp="1"/>
          </p:cNvSpPr>
          <p:nvPr>
            <p:ph type="ftr" sz="quarter" idx="11"/>
          </p:nvPr>
        </p:nvSpPr>
        <p:spPr/>
        <p:txBody>
          <a:bodyPr/>
          <a:lstStyle>
            <a:lvl1pPr marL="0" algn="r" defTabSz="1097280" rtl="0" eaLnBrk="1" latinLnBrk="0" hangingPunct="1">
              <a:defRPr lang="en-US" sz="12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2476074" y="7472477"/>
            <a:ext cx="1755648" cy="329184"/>
          </a:xfrm>
        </p:spPr>
        <p:txBody>
          <a:bodyPr/>
          <a:lstStyle>
            <a:lvl1pPr>
              <a:defRPr>
                <a:solidFill>
                  <a:srgbClr val="FFFFFF"/>
                </a:solidFill>
              </a:defRPr>
            </a:lvl1pPr>
          </a:lstStyle>
          <a:p>
            <a:fld id="{D57F1E4F-1CFF-5643-939E-217C01CDF565}" type="slidenum">
              <a:rPr lang="en-US" smtClean="0"/>
              <a:pPr/>
              <a:t>‹#›</a:t>
            </a:fld>
            <a:endParaRPr lang="en-US" dirty="0"/>
          </a:p>
        </p:txBody>
      </p:sp>
      <p:sp>
        <p:nvSpPr>
          <p:cNvPr id="10" name="Rectangle 9"/>
          <p:cNvSpPr/>
          <p:nvPr/>
        </p:nvSpPr>
        <p:spPr>
          <a:xfrm>
            <a:off x="10989055" y="449885"/>
            <a:ext cx="3182112" cy="732983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8773906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45746069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789920" y="914400"/>
            <a:ext cx="2834640" cy="63093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914400"/>
            <a:ext cx="9692640" cy="63093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3126506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7047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21992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77817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4992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44571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986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7885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432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81635" y="285293"/>
            <a:ext cx="14067130" cy="7659014"/>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280160" y="771113"/>
            <a:ext cx="12070080" cy="164592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80160" y="2523744"/>
            <a:ext cx="12070080" cy="47183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29184" y="7569206"/>
            <a:ext cx="3291840" cy="329184"/>
          </a:xfrm>
          <a:prstGeom prst="rect">
            <a:avLst/>
          </a:prstGeom>
        </p:spPr>
        <p:txBody>
          <a:bodyPr vert="horz" lIns="91440" tIns="45720" rIns="91440" bIns="45720" rtlCol="0" anchor="b"/>
          <a:lstStyle>
            <a:lvl1pPr algn="l">
              <a:defRPr sz="1200">
                <a:solidFill>
                  <a:schemeClr val="tx1">
                    <a:lumMod val="75000"/>
                    <a:lumOff val="25000"/>
                  </a:schemeClr>
                </a:solidFill>
              </a:defRPr>
            </a:lvl1pPr>
          </a:lstStyle>
          <a:p>
            <a:fld id="{B61BEF0D-F0BB-DE4B-95CE-6DB70DBA9567}" type="datetimeFigureOut">
              <a:rPr lang="en-US" smtClean="0"/>
              <a:pPr/>
              <a:t>3/31/2026</a:t>
            </a:fld>
            <a:endParaRPr lang="en-US" dirty="0"/>
          </a:p>
        </p:txBody>
      </p:sp>
      <p:sp>
        <p:nvSpPr>
          <p:cNvPr id="5" name="Footer Placeholder 4"/>
          <p:cNvSpPr>
            <a:spLocks noGrp="1"/>
          </p:cNvSpPr>
          <p:nvPr>
            <p:ph type="ftr" sz="quarter" idx="3"/>
          </p:nvPr>
        </p:nvSpPr>
        <p:spPr>
          <a:xfrm>
            <a:off x="4187952" y="7569206"/>
            <a:ext cx="6254496" cy="329184"/>
          </a:xfrm>
          <a:prstGeom prst="rect">
            <a:avLst/>
          </a:prstGeom>
        </p:spPr>
        <p:txBody>
          <a:bodyPr vert="horz" lIns="91440" tIns="45720" rIns="91440" bIns="45720" rtlCol="0" anchor="b"/>
          <a:lstStyle>
            <a:lvl1pPr algn="ctr">
              <a:defRPr sz="12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2563856" y="7569206"/>
            <a:ext cx="1755648" cy="329184"/>
          </a:xfrm>
          <a:prstGeom prst="rect">
            <a:avLst/>
          </a:prstGeom>
        </p:spPr>
        <p:txBody>
          <a:bodyPr vert="horz" lIns="91440" tIns="45720" rIns="91440" bIns="45720" rtlCol="0" anchor="b"/>
          <a:lstStyle>
            <a:lvl1pPr algn="r">
              <a:defRPr sz="1200">
                <a:solidFill>
                  <a:schemeClr val="tx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59819020"/>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39" r:id="rId15"/>
    <p:sldLayoutId id="2147483940" r:id="rId16"/>
    <p:sldLayoutId id="2147483941" r:id="rId17"/>
    <p:sldLayoutId id="2147483942" r:id="rId18"/>
    <p:sldLayoutId id="2147483943" r:id="rId19"/>
  </p:sldLayoutIdLst>
  <p:hf sldNum="0" hdr="0" ftr="0" dt="0"/>
  <p:txStyles>
    <p:titleStyle>
      <a:lvl1pPr algn="l" defTabSz="1097280" rtl="0" eaLnBrk="1" latinLnBrk="0" hangingPunct="1">
        <a:lnSpc>
          <a:spcPct val="90000"/>
        </a:lnSpc>
        <a:spcBef>
          <a:spcPct val="0"/>
        </a:spcBef>
        <a:buNone/>
        <a:defRPr lang="en-US" sz="5760" kern="1200" cap="none" spc="0" baseline="0" dirty="0">
          <a:solidFill>
            <a:schemeClr val="tx1">
              <a:lumMod val="85000"/>
              <a:lumOff val="15000"/>
            </a:schemeClr>
          </a:solidFill>
          <a:effectLst/>
          <a:latin typeface="+mj-lt"/>
          <a:ea typeface="+mn-ea"/>
          <a:cs typeface="+mn-cs"/>
        </a:defRPr>
      </a:lvl1pPr>
    </p:titleStyle>
    <p:bodyStyle>
      <a:lvl1pPr marL="219456" indent="-219456" algn="l" defTabSz="1097280" rtl="0" eaLnBrk="1" latinLnBrk="0" hangingPunct="1">
        <a:lnSpc>
          <a:spcPct val="100000"/>
        </a:lnSpc>
        <a:spcBef>
          <a:spcPts val="1080"/>
        </a:spcBef>
        <a:spcAft>
          <a:spcPts val="0"/>
        </a:spcAft>
        <a:buClr>
          <a:schemeClr val="tx1">
            <a:lumMod val="85000"/>
            <a:lumOff val="15000"/>
          </a:schemeClr>
        </a:buClr>
        <a:buFont typeface="Garamond" pitchFamily="18" charset="0"/>
        <a:buChar char="◦"/>
        <a:defRPr sz="2160" kern="1200">
          <a:solidFill>
            <a:schemeClr val="tx1"/>
          </a:solidFill>
          <a:latin typeface="+mn-lt"/>
          <a:ea typeface="+mn-ea"/>
          <a:cs typeface="+mn-cs"/>
        </a:defRPr>
      </a:lvl1pPr>
      <a:lvl2pPr marL="548640"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920" kern="1200">
          <a:solidFill>
            <a:schemeClr val="tx1"/>
          </a:solidFill>
          <a:latin typeface="+mn-lt"/>
          <a:ea typeface="+mn-ea"/>
          <a:cs typeface="+mn-cs"/>
        </a:defRPr>
      </a:lvl2pPr>
      <a:lvl3pPr marL="877824"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3pPr>
      <a:lvl4pPr marL="1207008"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4pPr>
      <a:lvl5pPr marL="1536192"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5pPr>
      <a:lvl6pPr marL="192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6pPr>
      <a:lvl7pPr marL="228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7pPr>
      <a:lvl8pPr marL="264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8pPr>
      <a:lvl9pPr marL="300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7.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0C4079-EC16-53D6-E5D0-7AFC83CFAE12}"/>
              </a:ext>
            </a:extLst>
          </p:cNvPr>
          <p:cNvSpPr txBox="1"/>
          <p:nvPr/>
        </p:nvSpPr>
        <p:spPr>
          <a:xfrm>
            <a:off x="858644" y="120490"/>
            <a:ext cx="13169590" cy="1815882"/>
          </a:xfrm>
          <a:prstGeom prst="rect">
            <a:avLst/>
          </a:prstGeom>
          <a:noFill/>
        </p:spPr>
        <p:txBody>
          <a:bodyPr wrap="square">
            <a:spAutoFit/>
          </a:bodyPr>
          <a:lstStyle/>
          <a:p>
            <a:pPr algn="ctr"/>
            <a:br>
              <a:rPr lang="en-IN" sz="2800" b="1" dirty="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ADITYA INSTITUTE OF TECHNOLOGY AND MANAGEMENT </a:t>
            </a:r>
            <a:br>
              <a:rPr lang="en-IN" sz="2800" b="1" dirty="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0EED1A0-C9F0-9439-404F-9A5D3582E6BF}"/>
              </a:ext>
            </a:extLst>
          </p:cNvPr>
          <p:cNvSpPr txBox="1"/>
          <p:nvPr/>
        </p:nvSpPr>
        <p:spPr>
          <a:xfrm>
            <a:off x="1390650" y="5114859"/>
            <a:ext cx="11849100" cy="289310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DEPARTMENT OF COMPUTER SCIENCE AND ENGINEERING</a:t>
            </a:r>
          </a:p>
          <a:p>
            <a:pPr algn="ctr"/>
            <a:endParaRPr lang="en-IN" dirty="0"/>
          </a:p>
          <a:p>
            <a:pPr algn="ctr"/>
            <a:endParaRPr lang="en-IN" dirty="0"/>
          </a:p>
          <a:p>
            <a:pPr algn="ctr"/>
            <a:r>
              <a:rPr lang="en-IN" sz="2400" dirty="0">
                <a:solidFill>
                  <a:schemeClr val="accent1">
                    <a:lumMod val="75000"/>
                  </a:schemeClr>
                </a:solidFill>
                <a:latin typeface="Times New Roman" panose="02020603050405020304" pitchFamily="18" charset="0"/>
                <a:cs typeface="Times New Roman" panose="02020603050405020304" pitchFamily="18" charset="0"/>
              </a:rPr>
              <a:t>(Approved by AICTE permanently affiliated to JNTUGV, Vizianagaram,</a:t>
            </a:r>
          </a:p>
          <a:p>
            <a:pPr algn="ctr"/>
            <a:r>
              <a:rPr lang="en-IN" sz="2400" dirty="0">
                <a:solidFill>
                  <a:schemeClr val="accent1">
                    <a:lumMod val="75000"/>
                  </a:schemeClr>
                </a:solidFill>
                <a:latin typeface="Times New Roman" panose="02020603050405020304" pitchFamily="18" charset="0"/>
                <a:cs typeface="Times New Roman" panose="02020603050405020304" pitchFamily="18" charset="0"/>
              </a:rPr>
              <a:t>Accredited by NBA &amp; NAAC with A+)</a:t>
            </a:r>
            <a:br>
              <a:rPr lang="en-IN" sz="2400" dirty="0">
                <a:solidFill>
                  <a:schemeClr val="accent1">
                    <a:lumMod val="75000"/>
                  </a:schemeClr>
                </a:solidFill>
                <a:latin typeface="Times New Roman" panose="02020603050405020304" pitchFamily="18" charset="0"/>
                <a:cs typeface="Times New Roman" panose="02020603050405020304" pitchFamily="18" charset="0"/>
              </a:rPr>
            </a:br>
            <a:r>
              <a:rPr lang="en-IN" sz="2400" dirty="0">
                <a:solidFill>
                  <a:schemeClr val="accent1">
                    <a:lumMod val="75000"/>
                  </a:schemeClr>
                </a:solidFill>
                <a:latin typeface="Times New Roman" panose="02020603050405020304" pitchFamily="18" charset="0"/>
                <a:cs typeface="Times New Roman" panose="02020603050405020304" pitchFamily="18" charset="0"/>
              </a:rPr>
              <a:t>K.Kotturu,tekkali-532201</a:t>
            </a:r>
            <a:br>
              <a:rPr lang="en-IN" dirty="0"/>
            </a:b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endParaRPr lang="en-IN" dirty="0"/>
          </a:p>
        </p:txBody>
      </p:sp>
      <p:pic>
        <p:nvPicPr>
          <p:cNvPr id="7" name="Picture 6">
            <a:extLst>
              <a:ext uri="{FF2B5EF4-FFF2-40B4-BE49-F238E27FC236}">
                <a16:creationId xmlns:a16="http://schemas.microsoft.com/office/drawing/2014/main" id="{3B9365BF-CCFD-B5EF-B2A1-9AA3F7AB38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7805" y="1800269"/>
            <a:ext cx="3482379" cy="3176091"/>
          </a:xfrm>
          <a:prstGeom prst="rect">
            <a:avLst/>
          </a:prstGeom>
          <a:effectLst>
            <a:outerShdw dist="38100" dir="10020000" algn="ctr" rotWithShape="0">
              <a:schemeClr val="bg1"/>
            </a:outerShdw>
            <a:reflection endPos="0" dist="50800" dir="5400000" sy="-100000" algn="bl" rotWithShape="0"/>
            <a:softEdge rad="0"/>
          </a:effectLst>
        </p:spPr>
      </p:pic>
    </p:spTree>
    <p:extLst>
      <p:ext uri="{BB962C8B-B14F-4D97-AF65-F5344CB8AC3E}">
        <p14:creationId xmlns:p14="http://schemas.microsoft.com/office/powerpoint/2010/main" val="3713484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850418" y="1099067"/>
            <a:ext cx="13040036" cy="1346597"/>
          </a:xfrm>
          <a:prstGeom prst="rect">
            <a:avLst/>
          </a:prstGeom>
          <a:noFill/>
          <a:ln/>
        </p:spPr>
        <p:txBody>
          <a:bodyPr wrap="square" lIns="0" tIns="0" rIns="0" bIns="0" rtlCol="0" anchor="t"/>
          <a:lstStyle/>
          <a:p>
            <a:pPr marL="0" indent="0" algn="l">
              <a:lnSpc>
                <a:spcPts val="5300"/>
              </a:lnSpc>
              <a:buNone/>
            </a:pPr>
            <a:r>
              <a:rPr lang="en-US" sz="4000" b="1" dirty="0">
                <a:solidFill>
                  <a:srgbClr val="443728"/>
                </a:solidFill>
                <a:latin typeface="Times New Roman" panose="02020603050405020304" pitchFamily="18" charset="0"/>
                <a:ea typeface="Crimson Pro Bold" pitchFamily="34" charset="-122"/>
                <a:cs typeface="Times New Roman" panose="02020603050405020304" pitchFamily="18" charset="0"/>
              </a:rPr>
              <a:t>Cognito Track </a:t>
            </a:r>
            <a:r>
              <a:rPr lang="en-US" sz="4200" b="1" dirty="0">
                <a:solidFill>
                  <a:srgbClr val="443728"/>
                </a:solidFill>
                <a:latin typeface="Times New Roman" panose="02020603050405020304" pitchFamily="18" charset="0"/>
                <a:ea typeface="Crimson Pro Bold" pitchFamily="34" charset="-122"/>
                <a:cs typeface="Times New Roman" panose="02020603050405020304" pitchFamily="18" charset="0"/>
              </a:rPr>
              <a:t>– AI Based Early Dementia Detection</a:t>
            </a:r>
            <a:endParaRPr lang="en-US" sz="4200" dirty="0">
              <a:latin typeface="Times New Roman" panose="02020603050405020304" pitchFamily="18" charset="0"/>
              <a:cs typeface="Times New Roman" panose="02020603050405020304" pitchFamily="18" charset="0"/>
            </a:endParaRPr>
          </a:p>
        </p:txBody>
      </p:sp>
      <p:sp>
        <p:nvSpPr>
          <p:cNvPr id="4" name="Text 1"/>
          <p:cNvSpPr/>
          <p:nvPr/>
        </p:nvSpPr>
        <p:spPr>
          <a:xfrm>
            <a:off x="1950779" y="1905357"/>
            <a:ext cx="7635954" cy="344805"/>
          </a:xfrm>
          <a:prstGeom prst="rect">
            <a:avLst/>
          </a:prstGeom>
          <a:noFill/>
          <a:ln/>
        </p:spPr>
        <p:txBody>
          <a:bodyPr wrap="none" lIns="0" tIns="0" rIns="0" bIns="0" rtlCol="0" anchor="t"/>
          <a:lstStyle/>
          <a:p>
            <a:pPr marL="0" indent="0" algn="l">
              <a:lnSpc>
                <a:spcPts val="2700"/>
              </a:lnSpc>
              <a:buNone/>
            </a:pPr>
            <a:endParaRPr lang="en-US" b="1" dirty="0">
              <a:latin typeface="Times New Roman" panose="02020603050405020304" pitchFamily="18" charset="0"/>
              <a:cs typeface="Times New Roman" panose="02020603050405020304" pitchFamily="18" charset="0"/>
            </a:endParaRPr>
          </a:p>
        </p:txBody>
      </p:sp>
      <p:sp>
        <p:nvSpPr>
          <p:cNvPr id="5" name="Text 2"/>
          <p:cNvSpPr/>
          <p:nvPr/>
        </p:nvSpPr>
        <p:spPr>
          <a:xfrm>
            <a:off x="4579620" y="2755654"/>
            <a:ext cx="7635954" cy="344805"/>
          </a:xfrm>
          <a:prstGeom prst="rect">
            <a:avLst/>
          </a:prstGeom>
          <a:noFill/>
          <a:ln/>
        </p:spPr>
        <p:txBody>
          <a:bodyPr wrap="none" lIns="0" tIns="0" rIns="0" bIns="0" rtlCol="0" anchor="t"/>
          <a:lstStyle/>
          <a:p>
            <a:pPr marL="0" indent="0" algn="l">
              <a:lnSpc>
                <a:spcPts val="2700"/>
              </a:lnSpc>
              <a:buNone/>
            </a:pPr>
            <a:r>
              <a:rPr lang="en-US" sz="2200" b="1" dirty="0">
                <a:solidFill>
                  <a:srgbClr val="443728"/>
                </a:solidFill>
                <a:latin typeface="Times New Roman" panose="02020603050405020304" pitchFamily="18" charset="0"/>
                <a:ea typeface="Open Sans" pitchFamily="34" charset="-122"/>
                <a:cs typeface="Times New Roman" panose="02020603050405020304" pitchFamily="18" charset="0"/>
              </a:rPr>
              <a:t>Under the Guidance of  Dr. CH. Ramesh</a:t>
            </a:r>
            <a:endParaRPr lang="en-US" sz="2200" b="1" dirty="0">
              <a:latin typeface="Times New Roman" panose="02020603050405020304" pitchFamily="18" charset="0"/>
              <a:cs typeface="Times New Roman" panose="02020603050405020304" pitchFamily="18" charset="0"/>
            </a:endParaRPr>
          </a:p>
        </p:txBody>
      </p:sp>
      <p:sp>
        <p:nvSpPr>
          <p:cNvPr id="6" name="Text 3"/>
          <p:cNvSpPr/>
          <p:nvPr/>
        </p:nvSpPr>
        <p:spPr>
          <a:xfrm>
            <a:off x="1950779" y="3797148"/>
            <a:ext cx="2693194" cy="336590"/>
          </a:xfrm>
          <a:prstGeom prst="rect">
            <a:avLst/>
          </a:prstGeom>
          <a:noFill/>
          <a:ln/>
        </p:spPr>
        <p:txBody>
          <a:bodyPr wrap="none" lIns="0" tIns="0" rIns="0" bIns="0" rtlCol="0" anchor="t"/>
          <a:lstStyle/>
          <a:p>
            <a:pPr marL="0" indent="0" algn="l">
              <a:lnSpc>
                <a:spcPts val="2650"/>
              </a:lnSpc>
              <a:buNone/>
            </a:pPr>
            <a:r>
              <a:rPr lang="en-US" sz="2200" b="1" dirty="0">
                <a:solidFill>
                  <a:srgbClr val="443728"/>
                </a:solidFill>
                <a:latin typeface="Times New Roman" panose="02020603050405020304" pitchFamily="18" charset="0"/>
                <a:ea typeface="Crimson Pro Bold" pitchFamily="34" charset="-122"/>
                <a:cs typeface="Times New Roman" panose="02020603050405020304" pitchFamily="18" charset="0"/>
              </a:rPr>
              <a:t>Team Members:</a:t>
            </a:r>
            <a:endParaRPr lang="en-US" sz="2200" dirty="0">
              <a:latin typeface="Times New Roman" panose="02020603050405020304" pitchFamily="18" charset="0"/>
              <a:cs typeface="Times New Roman" panose="02020603050405020304" pitchFamily="18" charset="0"/>
            </a:endParaRPr>
          </a:p>
        </p:txBody>
      </p:sp>
      <p:sp>
        <p:nvSpPr>
          <p:cNvPr id="7" name="Text 4"/>
          <p:cNvSpPr/>
          <p:nvPr/>
        </p:nvSpPr>
        <p:spPr>
          <a:xfrm>
            <a:off x="3926800" y="4387302"/>
            <a:ext cx="2693194" cy="336590"/>
          </a:xfrm>
          <a:prstGeom prst="rect">
            <a:avLst/>
          </a:prstGeom>
          <a:noFill/>
          <a:ln/>
        </p:spPr>
        <p:txBody>
          <a:bodyPr wrap="none" lIns="0" tIns="0" rIns="0" bIns="0" rtlCol="0" anchor="t"/>
          <a:lstStyle/>
          <a:p>
            <a:pPr marL="0" indent="0" algn="l">
              <a:lnSpc>
                <a:spcPts val="2650"/>
              </a:lnSpc>
              <a:buNone/>
            </a:pPr>
            <a:r>
              <a:rPr lang="en-US" sz="2200" b="1" dirty="0">
                <a:solidFill>
                  <a:srgbClr val="443728"/>
                </a:solidFill>
                <a:latin typeface="Times New Roman" panose="02020603050405020304" pitchFamily="18" charset="0"/>
                <a:ea typeface="Crimson Pro Bold" pitchFamily="34" charset="-122"/>
                <a:cs typeface="Times New Roman" panose="02020603050405020304" pitchFamily="18" charset="0"/>
              </a:rPr>
              <a:t>Name</a:t>
            </a:r>
            <a:endParaRPr lang="en-US" sz="2200" dirty="0">
              <a:latin typeface="Times New Roman" panose="02020603050405020304" pitchFamily="18" charset="0"/>
              <a:cs typeface="Times New Roman" panose="02020603050405020304" pitchFamily="18" charset="0"/>
            </a:endParaRPr>
          </a:p>
        </p:txBody>
      </p:sp>
      <p:sp>
        <p:nvSpPr>
          <p:cNvPr id="8" name="Text 5"/>
          <p:cNvSpPr/>
          <p:nvPr/>
        </p:nvSpPr>
        <p:spPr>
          <a:xfrm>
            <a:off x="3926800" y="4919394"/>
            <a:ext cx="3555206" cy="344805"/>
          </a:xfrm>
          <a:prstGeom prst="rect">
            <a:avLst/>
          </a:prstGeom>
          <a:noFill/>
          <a:ln/>
        </p:spPr>
        <p:txBody>
          <a:bodyPr wrap="none" lIns="0" tIns="0" rIns="0" bIns="0" rtlCol="0" anchor="t"/>
          <a:lstStyle/>
          <a:p>
            <a:pPr marL="0" indent="0" algn="l">
              <a:lnSpc>
                <a:spcPts val="2700"/>
              </a:lnSpc>
              <a:buNone/>
            </a:pPr>
            <a:r>
              <a:rPr lang="en-US" sz="2000" dirty="0">
                <a:solidFill>
                  <a:srgbClr val="443728"/>
                </a:solidFill>
                <a:latin typeface="Times New Roman" panose="02020603050405020304" pitchFamily="18" charset="0"/>
                <a:ea typeface="Open Sans" pitchFamily="34" charset="-122"/>
                <a:cs typeface="Times New Roman" panose="02020603050405020304" pitchFamily="18" charset="0"/>
              </a:rPr>
              <a:t>Bishwanath Bhandari   </a:t>
            </a:r>
            <a:endParaRPr lang="en-US" sz="2000" dirty="0">
              <a:latin typeface="Times New Roman" panose="02020603050405020304" pitchFamily="18" charset="0"/>
              <a:cs typeface="Times New Roman" panose="02020603050405020304" pitchFamily="18" charset="0"/>
            </a:endParaRPr>
          </a:p>
        </p:txBody>
      </p:sp>
      <p:sp>
        <p:nvSpPr>
          <p:cNvPr id="9" name="Text 6"/>
          <p:cNvSpPr/>
          <p:nvPr/>
        </p:nvSpPr>
        <p:spPr>
          <a:xfrm>
            <a:off x="3926800" y="5344601"/>
            <a:ext cx="3555206" cy="344805"/>
          </a:xfrm>
          <a:prstGeom prst="rect">
            <a:avLst/>
          </a:prstGeom>
          <a:noFill/>
          <a:ln/>
        </p:spPr>
        <p:txBody>
          <a:bodyPr wrap="none" lIns="0" tIns="0" rIns="0" bIns="0" rtlCol="0" anchor="t"/>
          <a:lstStyle/>
          <a:p>
            <a:pPr marL="0" indent="0" algn="l">
              <a:lnSpc>
                <a:spcPts val="2700"/>
              </a:lnSpc>
              <a:buNone/>
            </a:pPr>
            <a:r>
              <a:rPr lang="en-US" sz="2000" dirty="0">
                <a:solidFill>
                  <a:srgbClr val="443728"/>
                </a:solidFill>
                <a:latin typeface="Times New Roman" panose="02020603050405020304" pitchFamily="18" charset="0"/>
                <a:ea typeface="Open Sans" pitchFamily="34" charset="-122"/>
                <a:cs typeface="Times New Roman" panose="02020603050405020304" pitchFamily="18" charset="0"/>
              </a:rPr>
              <a:t>K MadhuSudhan Rao</a:t>
            </a:r>
            <a:endParaRPr lang="en-US" sz="2000" dirty="0">
              <a:latin typeface="Times New Roman" panose="02020603050405020304" pitchFamily="18" charset="0"/>
              <a:cs typeface="Times New Roman" panose="02020603050405020304" pitchFamily="18" charset="0"/>
            </a:endParaRPr>
          </a:p>
        </p:txBody>
      </p:sp>
      <p:sp>
        <p:nvSpPr>
          <p:cNvPr id="10" name="Text 7"/>
          <p:cNvSpPr/>
          <p:nvPr/>
        </p:nvSpPr>
        <p:spPr>
          <a:xfrm>
            <a:off x="3926800" y="5788133"/>
            <a:ext cx="3555206" cy="344805"/>
          </a:xfrm>
          <a:prstGeom prst="rect">
            <a:avLst/>
          </a:prstGeom>
          <a:noFill/>
          <a:ln/>
        </p:spPr>
        <p:txBody>
          <a:bodyPr wrap="none" lIns="0" tIns="0" rIns="0" bIns="0" rtlCol="0" anchor="t"/>
          <a:lstStyle/>
          <a:p>
            <a:pPr marL="0" indent="0" algn="l">
              <a:lnSpc>
                <a:spcPts val="2700"/>
              </a:lnSpc>
              <a:buNone/>
            </a:pPr>
            <a:r>
              <a:rPr lang="en-US" sz="2000" dirty="0">
                <a:solidFill>
                  <a:srgbClr val="443728"/>
                </a:solidFill>
                <a:latin typeface="Times New Roman" panose="02020603050405020304" pitchFamily="18" charset="0"/>
                <a:ea typeface="Open Sans" pitchFamily="34" charset="-122"/>
                <a:cs typeface="Times New Roman" panose="02020603050405020304" pitchFamily="18" charset="0"/>
              </a:rPr>
              <a:t>S Shiva Sai</a:t>
            </a:r>
            <a:endParaRPr lang="en-US" sz="2000" dirty="0">
              <a:latin typeface="Times New Roman" panose="02020603050405020304" pitchFamily="18" charset="0"/>
              <a:cs typeface="Times New Roman" panose="02020603050405020304" pitchFamily="18" charset="0"/>
            </a:endParaRPr>
          </a:p>
        </p:txBody>
      </p:sp>
      <p:sp>
        <p:nvSpPr>
          <p:cNvPr id="11" name="Text 8"/>
          <p:cNvSpPr/>
          <p:nvPr/>
        </p:nvSpPr>
        <p:spPr>
          <a:xfrm>
            <a:off x="3926800" y="6244583"/>
            <a:ext cx="3555206" cy="344805"/>
          </a:xfrm>
          <a:prstGeom prst="rect">
            <a:avLst/>
          </a:prstGeom>
          <a:noFill/>
          <a:ln/>
        </p:spPr>
        <p:txBody>
          <a:bodyPr wrap="none" lIns="0" tIns="0" rIns="0" bIns="0" rtlCol="0" anchor="t"/>
          <a:lstStyle/>
          <a:p>
            <a:pPr marL="0" indent="0" algn="l">
              <a:lnSpc>
                <a:spcPts val="2700"/>
              </a:lnSpc>
              <a:buNone/>
            </a:pPr>
            <a:r>
              <a:rPr lang="en-US" sz="2000" dirty="0">
                <a:solidFill>
                  <a:srgbClr val="443728"/>
                </a:solidFill>
                <a:latin typeface="Times New Roman" panose="02020603050405020304" pitchFamily="18" charset="0"/>
                <a:ea typeface="Open Sans" pitchFamily="34" charset="-122"/>
                <a:cs typeface="Times New Roman" panose="02020603050405020304" pitchFamily="18" charset="0"/>
              </a:rPr>
              <a:t>M</a:t>
            </a:r>
            <a:r>
              <a:rPr lang="en-US" sz="2000">
                <a:solidFill>
                  <a:srgbClr val="443728"/>
                </a:solidFill>
                <a:latin typeface="Times New Roman" panose="02020603050405020304" pitchFamily="18" charset="0"/>
                <a:ea typeface="Open Sans" pitchFamily="34" charset="-122"/>
                <a:cs typeface="Times New Roman" panose="02020603050405020304" pitchFamily="18" charset="0"/>
              </a:rPr>
              <a:t>.Manikantha</a:t>
            </a:r>
            <a:endParaRPr lang="en-US" sz="2000" dirty="0">
              <a:latin typeface="Times New Roman" panose="02020603050405020304" pitchFamily="18" charset="0"/>
              <a:cs typeface="Times New Roman" panose="02020603050405020304" pitchFamily="18" charset="0"/>
            </a:endParaRPr>
          </a:p>
        </p:txBody>
      </p:sp>
      <p:sp>
        <p:nvSpPr>
          <p:cNvPr id="12" name="Text 9"/>
          <p:cNvSpPr/>
          <p:nvPr/>
        </p:nvSpPr>
        <p:spPr>
          <a:xfrm>
            <a:off x="3926800" y="6719291"/>
            <a:ext cx="3555206" cy="344805"/>
          </a:xfrm>
          <a:prstGeom prst="rect">
            <a:avLst/>
          </a:prstGeom>
          <a:noFill/>
          <a:ln/>
        </p:spPr>
        <p:txBody>
          <a:bodyPr wrap="none" lIns="0" tIns="0" rIns="0" bIns="0" rtlCol="0" anchor="t"/>
          <a:lstStyle/>
          <a:p>
            <a:pPr marL="0" indent="0" algn="l">
              <a:lnSpc>
                <a:spcPts val="2700"/>
              </a:lnSpc>
              <a:buNone/>
            </a:pPr>
            <a:r>
              <a:rPr lang="en-US" sz="2000" dirty="0">
                <a:solidFill>
                  <a:srgbClr val="443728"/>
                </a:solidFill>
                <a:latin typeface="Times New Roman" panose="02020603050405020304" pitchFamily="18" charset="0"/>
                <a:ea typeface="Open Sans" pitchFamily="34" charset="-122"/>
                <a:cs typeface="Times New Roman" panose="02020603050405020304" pitchFamily="18" charset="0"/>
              </a:rPr>
              <a:t>Y.Santu Sai</a:t>
            </a:r>
            <a:endParaRPr lang="en-US" sz="2000" dirty="0">
              <a:latin typeface="Times New Roman" panose="02020603050405020304" pitchFamily="18" charset="0"/>
              <a:cs typeface="Times New Roman" panose="02020603050405020304" pitchFamily="18" charset="0"/>
            </a:endParaRPr>
          </a:p>
        </p:txBody>
      </p:sp>
      <p:sp>
        <p:nvSpPr>
          <p:cNvPr id="13" name="Text 10"/>
          <p:cNvSpPr/>
          <p:nvPr/>
        </p:nvSpPr>
        <p:spPr>
          <a:xfrm>
            <a:off x="9522380" y="4306998"/>
            <a:ext cx="2693194" cy="336590"/>
          </a:xfrm>
          <a:prstGeom prst="rect">
            <a:avLst/>
          </a:prstGeom>
          <a:noFill/>
          <a:ln/>
        </p:spPr>
        <p:txBody>
          <a:bodyPr wrap="none" lIns="0" tIns="0" rIns="0" bIns="0" rtlCol="0" anchor="t"/>
          <a:lstStyle/>
          <a:p>
            <a:pPr marL="0" indent="0" algn="l">
              <a:lnSpc>
                <a:spcPts val="2650"/>
              </a:lnSpc>
              <a:buNone/>
            </a:pPr>
            <a:r>
              <a:rPr lang="en-US" sz="2200" b="1" dirty="0">
                <a:solidFill>
                  <a:srgbClr val="443728"/>
                </a:solidFill>
                <a:latin typeface="Times New Roman" panose="02020603050405020304" pitchFamily="18" charset="0"/>
                <a:ea typeface="Crimson Pro Bold" pitchFamily="34" charset="-122"/>
                <a:cs typeface="Times New Roman" panose="02020603050405020304" pitchFamily="18" charset="0"/>
              </a:rPr>
              <a:t>Roll Number</a:t>
            </a:r>
            <a:endParaRPr lang="en-US" sz="2200" dirty="0">
              <a:latin typeface="Times New Roman" panose="02020603050405020304" pitchFamily="18" charset="0"/>
              <a:cs typeface="Times New Roman" panose="02020603050405020304" pitchFamily="18" charset="0"/>
            </a:endParaRPr>
          </a:p>
        </p:txBody>
      </p:sp>
      <p:sp>
        <p:nvSpPr>
          <p:cNvPr id="14" name="Text 11"/>
          <p:cNvSpPr/>
          <p:nvPr/>
        </p:nvSpPr>
        <p:spPr>
          <a:xfrm>
            <a:off x="9522380" y="4919393"/>
            <a:ext cx="3555206" cy="344805"/>
          </a:xfrm>
          <a:prstGeom prst="rect">
            <a:avLst/>
          </a:prstGeom>
          <a:noFill/>
          <a:ln/>
        </p:spPr>
        <p:txBody>
          <a:bodyPr wrap="none" lIns="0" tIns="0" rIns="0" bIns="0" rtlCol="0" anchor="t"/>
          <a:lstStyle/>
          <a:p>
            <a:pPr marL="0" indent="0" algn="l">
              <a:lnSpc>
                <a:spcPts val="2700"/>
              </a:lnSpc>
              <a:buNone/>
            </a:pPr>
            <a:r>
              <a:rPr lang="en-US" sz="2000" dirty="0">
                <a:solidFill>
                  <a:srgbClr val="443728"/>
                </a:solidFill>
                <a:latin typeface="Times New Roman" panose="02020603050405020304" pitchFamily="18" charset="0"/>
                <a:ea typeface="Open Sans" pitchFamily="34" charset="-122"/>
                <a:cs typeface="Times New Roman" panose="02020603050405020304" pitchFamily="18" charset="0"/>
              </a:rPr>
              <a:t>22A51A05K0</a:t>
            </a:r>
            <a:endParaRPr lang="en-US" sz="2000" dirty="0">
              <a:latin typeface="Times New Roman" panose="02020603050405020304" pitchFamily="18" charset="0"/>
              <a:cs typeface="Times New Roman" panose="02020603050405020304" pitchFamily="18" charset="0"/>
            </a:endParaRPr>
          </a:p>
        </p:txBody>
      </p:sp>
      <p:sp>
        <p:nvSpPr>
          <p:cNvPr id="15" name="Text 12"/>
          <p:cNvSpPr/>
          <p:nvPr/>
        </p:nvSpPr>
        <p:spPr>
          <a:xfrm>
            <a:off x="9522380" y="5398796"/>
            <a:ext cx="3555206" cy="344805"/>
          </a:xfrm>
          <a:prstGeom prst="rect">
            <a:avLst/>
          </a:prstGeom>
          <a:noFill/>
          <a:ln/>
        </p:spPr>
        <p:txBody>
          <a:bodyPr wrap="none" lIns="0" tIns="0" rIns="0" bIns="0" rtlCol="0" anchor="t"/>
          <a:lstStyle/>
          <a:p>
            <a:pPr marL="0" indent="0" algn="l">
              <a:lnSpc>
                <a:spcPts val="2700"/>
              </a:lnSpc>
              <a:buNone/>
            </a:pPr>
            <a:r>
              <a:rPr lang="en-US" sz="2000" dirty="0">
                <a:solidFill>
                  <a:srgbClr val="443728"/>
                </a:solidFill>
                <a:latin typeface="Times New Roman" panose="02020603050405020304" pitchFamily="18" charset="0"/>
                <a:ea typeface="Open Sans" pitchFamily="34" charset="-122"/>
                <a:cs typeface="Times New Roman" panose="02020603050405020304" pitchFamily="18" charset="0"/>
              </a:rPr>
              <a:t>22A51A05F5</a:t>
            </a:r>
            <a:endParaRPr lang="en-US" sz="2000" dirty="0">
              <a:latin typeface="Times New Roman" panose="02020603050405020304" pitchFamily="18" charset="0"/>
              <a:cs typeface="Times New Roman" panose="02020603050405020304" pitchFamily="18" charset="0"/>
            </a:endParaRPr>
          </a:p>
        </p:txBody>
      </p:sp>
      <p:sp>
        <p:nvSpPr>
          <p:cNvPr id="16" name="Text 13"/>
          <p:cNvSpPr/>
          <p:nvPr/>
        </p:nvSpPr>
        <p:spPr>
          <a:xfrm>
            <a:off x="9560969" y="5878199"/>
            <a:ext cx="3555206" cy="344805"/>
          </a:xfrm>
          <a:prstGeom prst="rect">
            <a:avLst/>
          </a:prstGeom>
          <a:noFill/>
          <a:ln/>
        </p:spPr>
        <p:txBody>
          <a:bodyPr wrap="none" lIns="0" tIns="0" rIns="0" bIns="0" rtlCol="0" anchor="t"/>
          <a:lstStyle/>
          <a:p>
            <a:pPr marL="0" indent="0" algn="l">
              <a:lnSpc>
                <a:spcPts val="2700"/>
              </a:lnSpc>
              <a:buNone/>
            </a:pPr>
            <a:r>
              <a:rPr lang="en-US" sz="2000" dirty="0">
                <a:solidFill>
                  <a:srgbClr val="443728"/>
                </a:solidFill>
                <a:latin typeface="Times New Roman" panose="02020603050405020304" pitchFamily="18" charset="0"/>
                <a:ea typeface="Open Sans" pitchFamily="34" charset="-122"/>
                <a:cs typeface="Times New Roman" panose="02020603050405020304" pitchFamily="18" charset="0"/>
              </a:rPr>
              <a:t>22A51A05I7</a:t>
            </a:r>
            <a:endParaRPr lang="en-US" sz="2000" dirty="0">
              <a:latin typeface="Times New Roman" panose="02020603050405020304" pitchFamily="18" charset="0"/>
              <a:cs typeface="Times New Roman" panose="02020603050405020304" pitchFamily="18" charset="0"/>
            </a:endParaRPr>
          </a:p>
        </p:txBody>
      </p:sp>
      <p:sp>
        <p:nvSpPr>
          <p:cNvPr id="17" name="Text 14"/>
          <p:cNvSpPr/>
          <p:nvPr/>
        </p:nvSpPr>
        <p:spPr>
          <a:xfrm>
            <a:off x="9522380" y="6356647"/>
            <a:ext cx="3555206" cy="344805"/>
          </a:xfrm>
          <a:prstGeom prst="rect">
            <a:avLst/>
          </a:prstGeom>
          <a:noFill/>
          <a:ln/>
        </p:spPr>
        <p:txBody>
          <a:bodyPr wrap="none" lIns="0" tIns="0" rIns="0" bIns="0" rtlCol="0" anchor="t"/>
          <a:lstStyle/>
          <a:p>
            <a:pPr marL="0" indent="0" algn="l">
              <a:lnSpc>
                <a:spcPts val="2700"/>
              </a:lnSpc>
              <a:buNone/>
            </a:pPr>
            <a:r>
              <a:rPr lang="en-US" sz="2000" dirty="0">
                <a:solidFill>
                  <a:srgbClr val="443728"/>
                </a:solidFill>
                <a:latin typeface="Times New Roman" panose="02020603050405020304" pitchFamily="18" charset="0"/>
                <a:ea typeface="Open Sans" pitchFamily="34" charset="-122"/>
                <a:cs typeface="Times New Roman" panose="02020603050405020304" pitchFamily="18" charset="0"/>
              </a:rPr>
              <a:t>22A51A05G2</a:t>
            </a:r>
            <a:endParaRPr lang="en-US" sz="2000" dirty="0">
              <a:latin typeface="Times New Roman" panose="02020603050405020304" pitchFamily="18" charset="0"/>
              <a:cs typeface="Times New Roman" panose="02020603050405020304" pitchFamily="18" charset="0"/>
            </a:endParaRPr>
          </a:p>
        </p:txBody>
      </p:sp>
      <p:sp>
        <p:nvSpPr>
          <p:cNvPr id="18" name="Text 15"/>
          <p:cNvSpPr/>
          <p:nvPr/>
        </p:nvSpPr>
        <p:spPr>
          <a:xfrm>
            <a:off x="9522380" y="6837020"/>
            <a:ext cx="3555206" cy="344805"/>
          </a:xfrm>
          <a:prstGeom prst="rect">
            <a:avLst/>
          </a:prstGeom>
          <a:noFill/>
          <a:ln/>
        </p:spPr>
        <p:txBody>
          <a:bodyPr wrap="none" lIns="0" tIns="0" rIns="0" bIns="0" rtlCol="0" anchor="t"/>
          <a:lstStyle/>
          <a:p>
            <a:pPr marL="0" indent="0" algn="l">
              <a:lnSpc>
                <a:spcPts val="2700"/>
              </a:lnSpc>
              <a:buNone/>
            </a:pPr>
            <a:r>
              <a:rPr lang="en-US" sz="2000" dirty="0">
                <a:solidFill>
                  <a:srgbClr val="443728"/>
                </a:solidFill>
                <a:latin typeface="Times New Roman" panose="02020603050405020304" pitchFamily="18" charset="0"/>
                <a:ea typeface="Open Sans" pitchFamily="34" charset="-122"/>
                <a:cs typeface="Times New Roman" panose="02020603050405020304" pitchFamily="18" charset="0"/>
              </a:rPr>
              <a:t>22A51A05J8</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a:extLst>
              <a:ext uri="{FF2B5EF4-FFF2-40B4-BE49-F238E27FC236}">
                <a16:creationId xmlns:a16="http://schemas.microsoft.com/office/drawing/2014/main" id="{E978428A-CFD6-FF78-B41A-07DDEF63D061}"/>
              </a:ext>
            </a:extLst>
          </p:cNvPr>
          <p:cNvSpPr/>
          <p:nvPr/>
        </p:nvSpPr>
        <p:spPr>
          <a:xfrm>
            <a:off x="2229482" y="1237785"/>
            <a:ext cx="5710186" cy="829871"/>
          </a:xfrm>
          <a:prstGeom prst="rect">
            <a:avLst/>
          </a:prstGeom>
          <a:noFill/>
          <a:ln/>
        </p:spPr>
        <p:txBody>
          <a:bodyPr wrap="none" lIns="0" tIns="0" rIns="0" bIns="0" rtlCol="0" anchor="t"/>
          <a:lstStyle/>
          <a:p>
            <a:pPr marL="0" indent="0" algn="l">
              <a:lnSpc>
                <a:spcPts val="2650"/>
              </a:lnSpc>
              <a:buNone/>
            </a:pPr>
            <a:endParaRPr lang="en-US" sz="2100" dirty="0">
              <a:latin typeface="Times New Roman" panose="02020603050405020304" pitchFamily="18" charset="0"/>
              <a:cs typeface="Times New Roman" panose="02020603050405020304" pitchFamily="18" charset="0"/>
            </a:endParaRPr>
          </a:p>
        </p:txBody>
      </p:sp>
      <p:sp>
        <p:nvSpPr>
          <p:cNvPr id="4" name="Text 0">
            <a:extLst>
              <a:ext uri="{FF2B5EF4-FFF2-40B4-BE49-F238E27FC236}">
                <a16:creationId xmlns:a16="http://schemas.microsoft.com/office/drawing/2014/main" id="{A3D2F750-A4FB-E326-3B3F-8F49ECD5184B}"/>
              </a:ext>
            </a:extLst>
          </p:cNvPr>
          <p:cNvSpPr/>
          <p:nvPr/>
        </p:nvSpPr>
        <p:spPr>
          <a:xfrm>
            <a:off x="668389" y="306123"/>
            <a:ext cx="13040036" cy="1346597"/>
          </a:xfrm>
          <a:prstGeom prst="rect">
            <a:avLst/>
          </a:prstGeom>
          <a:noFill/>
          <a:ln/>
        </p:spPr>
        <p:txBody>
          <a:bodyPr wrap="square" lIns="0" tIns="0" rIns="0" bIns="0" rtlCol="0" anchor="t"/>
          <a:lstStyle/>
          <a:p>
            <a:pPr marL="0" indent="0" algn="ctr">
              <a:lnSpc>
                <a:spcPts val="5300"/>
              </a:lnSpc>
              <a:buNone/>
            </a:pPr>
            <a:r>
              <a:rPr lang="en-US" sz="4000" b="1" spc="300" dirty="0">
                <a:solidFill>
                  <a:srgbClr val="443728"/>
                </a:solidFill>
                <a:latin typeface="Times New Roman" panose="02020603050405020304" pitchFamily="18" charset="0"/>
                <a:ea typeface="Crimson Pro Bold" pitchFamily="34" charset="-122"/>
                <a:cs typeface="Times New Roman" panose="02020603050405020304" pitchFamily="18" charset="0"/>
              </a:rPr>
              <a:t>TABLE OF CONTENT</a:t>
            </a:r>
            <a:endParaRPr lang="en-US" sz="4200" dirty="0">
              <a:latin typeface="Times New Roman" panose="02020603050405020304" pitchFamily="18" charset="0"/>
              <a:cs typeface="Times New Roman" panose="02020603050405020304" pitchFamily="18" charset="0"/>
            </a:endParaRPr>
          </a:p>
        </p:txBody>
      </p:sp>
      <p:sp>
        <p:nvSpPr>
          <p:cNvPr id="7" name="Text 0">
            <a:extLst>
              <a:ext uri="{FF2B5EF4-FFF2-40B4-BE49-F238E27FC236}">
                <a16:creationId xmlns:a16="http://schemas.microsoft.com/office/drawing/2014/main" id="{4F1CDAC9-3245-1AB6-5A78-6CED357DAA52}"/>
              </a:ext>
            </a:extLst>
          </p:cNvPr>
          <p:cNvSpPr/>
          <p:nvPr/>
        </p:nvSpPr>
        <p:spPr>
          <a:xfrm>
            <a:off x="2417614" y="998580"/>
            <a:ext cx="11044108" cy="6936054"/>
          </a:xfrm>
          <a:prstGeom prst="rect">
            <a:avLst/>
          </a:prstGeom>
          <a:noFill/>
          <a:ln/>
        </p:spPr>
        <p:txBody>
          <a:bodyPr wrap="square" lIns="0" tIns="0" rIns="0" bIns="0" rtlCol="0" anchor="t"/>
          <a:lstStyle/>
          <a:p>
            <a:pPr marL="742950" indent="-742950">
              <a:lnSpc>
                <a:spcPct val="150000"/>
              </a:lnSpc>
              <a:buFont typeface="+mj-lt"/>
              <a:buAutoNum type="arabicPeriod"/>
            </a:pPr>
            <a:r>
              <a:rPr lang="en-US" sz="3800" b="1" spc="300" dirty="0">
                <a:solidFill>
                  <a:srgbClr val="443728"/>
                </a:solidFill>
                <a:latin typeface="Times New Roman" panose="02020603050405020304" pitchFamily="18" charset="0"/>
                <a:ea typeface="Crimson Pro Bold" pitchFamily="34" charset="-122"/>
                <a:cs typeface="Times New Roman" panose="02020603050405020304" pitchFamily="18" charset="0"/>
              </a:rPr>
              <a:t>Abstract</a:t>
            </a:r>
          </a:p>
          <a:p>
            <a:pPr marL="742950" indent="-742950">
              <a:lnSpc>
                <a:spcPct val="150000"/>
              </a:lnSpc>
              <a:buFont typeface="+mj-lt"/>
              <a:buAutoNum type="arabicPeriod"/>
            </a:pPr>
            <a:r>
              <a:rPr lang="en-US" sz="3800" b="1" spc="300" dirty="0">
                <a:solidFill>
                  <a:srgbClr val="443728"/>
                </a:solidFill>
                <a:latin typeface="Times New Roman" panose="02020603050405020304" pitchFamily="18" charset="0"/>
                <a:ea typeface="Crimson Pro Bold" pitchFamily="34" charset="-122"/>
                <a:cs typeface="Times New Roman" panose="02020603050405020304" pitchFamily="18" charset="0"/>
              </a:rPr>
              <a:t>Introduction</a:t>
            </a:r>
          </a:p>
          <a:p>
            <a:pPr marL="742950" indent="-742950">
              <a:lnSpc>
                <a:spcPct val="150000"/>
              </a:lnSpc>
              <a:buFont typeface="+mj-lt"/>
              <a:buAutoNum type="arabicPeriod"/>
            </a:pPr>
            <a:r>
              <a:rPr lang="en-US" sz="3800" b="1" spc="300" dirty="0">
                <a:solidFill>
                  <a:srgbClr val="443728"/>
                </a:solidFill>
                <a:latin typeface="Times New Roman" panose="02020603050405020304" pitchFamily="18" charset="0"/>
                <a:ea typeface="Crimson Pro Bold" pitchFamily="34" charset="-122"/>
                <a:cs typeface="Times New Roman" panose="02020603050405020304" pitchFamily="18" charset="0"/>
              </a:rPr>
              <a:t>Literature &amp; Survey</a:t>
            </a:r>
            <a:endParaRPr lang="en-IN" sz="3800" b="1" spc="300" dirty="0">
              <a:solidFill>
                <a:srgbClr val="443728"/>
              </a:solidFill>
              <a:latin typeface="Times New Roman" panose="02020603050405020304" pitchFamily="18" charset="0"/>
              <a:ea typeface="Crimson Pro Bold" pitchFamily="34" charset="-122"/>
              <a:cs typeface="Times New Roman" panose="02020603050405020304" pitchFamily="18" charset="0"/>
            </a:endParaRPr>
          </a:p>
          <a:p>
            <a:pPr marL="742950" indent="-742950">
              <a:lnSpc>
                <a:spcPct val="150000"/>
              </a:lnSpc>
              <a:buFont typeface="+mj-lt"/>
              <a:buAutoNum type="arabicPeriod"/>
            </a:pPr>
            <a:r>
              <a:rPr lang="en-IN" sz="3800" b="1" spc="300" dirty="0">
                <a:solidFill>
                  <a:srgbClr val="443728"/>
                </a:solidFill>
                <a:latin typeface="Times New Roman" panose="02020603050405020304" pitchFamily="18" charset="0"/>
                <a:ea typeface="Crimson Pro Bold" pitchFamily="34" charset="-122"/>
                <a:cs typeface="Times New Roman" panose="02020603050405020304" pitchFamily="18" charset="0"/>
              </a:rPr>
              <a:t>Methodology </a:t>
            </a:r>
          </a:p>
          <a:p>
            <a:pPr marL="742950" indent="-742950">
              <a:lnSpc>
                <a:spcPct val="150000"/>
              </a:lnSpc>
              <a:buFont typeface="+mj-lt"/>
              <a:buAutoNum type="arabicPeriod"/>
            </a:pPr>
            <a:r>
              <a:rPr lang="en-IN" sz="3800" b="1" spc="300" dirty="0">
                <a:solidFill>
                  <a:srgbClr val="443728"/>
                </a:solidFill>
                <a:latin typeface="Times New Roman" panose="02020603050405020304" pitchFamily="18" charset="0"/>
                <a:ea typeface="Crimson Pro Bold" pitchFamily="34" charset="-122"/>
                <a:cs typeface="Times New Roman" panose="02020603050405020304" pitchFamily="18" charset="0"/>
              </a:rPr>
              <a:t>Gaps in Existing Literature</a:t>
            </a:r>
          </a:p>
          <a:p>
            <a:pPr marL="742950" indent="-742950">
              <a:lnSpc>
                <a:spcPct val="150000"/>
              </a:lnSpc>
              <a:buFont typeface="+mj-lt"/>
              <a:buAutoNum type="arabicPeriod"/>
            </a:pPr>
            <a:r>
              <a:rPr lang="en-IN" sz="3800" b="1" spc="300" dirty="0">
                <a:solidFill>
                  <a:srgbClr val="443728"/>
                </a:solidFill>
                <a:latin typeface="Times New Roman" panose="02020603050405020304" pitchFamily="18" charset="0"/>
                <a:ea typeface="Crimson Pro Bold" pitchFamily="34" charset="-122"/>
                <a:cs typeface="Times New Roman" panose="02020603050405020304" pitchFamily="18" charset="0"/>
              </a:rPr>
              <a:t>Proposed Solution </a:t>
            </a:r>
          </a:p>
          <a:p>
            <a:pPr marL="742950" indent="-742950">
              <a:lnSpc>
                <a:spcPct val="150000"/>
              </a:lnSpc>
              <a:buFont typeface="+mj-lt"/>
              <a:buAutoNum type="arabicPeriod"/>
            </a:pPr>
            <a:r>
              <a:rPr lang="en-IN" sz="3800" b="1" spc="300" dirty="0">
                <a:solidFill>
                  <a:srgbClr val="443728"/>
                </a:solidFill>
                <a:latin typeface="Times New Roman" panose="02020603050405020304" pitchFamily="18" charset="0"/>
                <a:ea typeface="Crimson Pro Bold" pitchFamily="34" charset="-122"/>
                <a:cs typeface="Times New Roman" panose="02020603050405020304" pitchFamily="18" charset="0"/>
              </a:rPr>
              <a:t>Graphs</a:t>
            </a:r>
          </a:p>
          <a:p>
            <a:pPr marL="742950" indent="-742950">
              <a:lnSpc>
                <a:spcPct val="150000"/>
              </a:lnSpc>
              <a:buFont typeface="+mj-lt"/>
              <a:buAutoNum type="arabicPeriod"/>
            </a:pPr>
            <a:r>
              <a:rPr lang="en-IN" sz="3800" b="1" spc="300" dirty="0">
                <a:solidFill>
                  <a:srgbClr val="443728"/>
                </a:solidFill>
                <a:latin typeface="Times New Roman" panose="02020603050405020304" pitchFamily="18" charset="0"/>
                <a:ea typeface="Crimson Pro Bold" pitchFamily="34" charset="-122"/>
                <a:cs typeface="Times New Roman" panose="02020603050405020304" pitchFamily="18" charset="0"/>
              </a:rPr>
              <a:t>Conclusion</a:t>
            </a:r>
            <a:endParaRPr lang="en-IN" sz="3800" dirty="0">
              <a:latin typeface="Times New Roman" panose="02020603050405020304" pitchFamily="18" charset="0"/>
              <a:cs typeface="Times New Roman" panose="02020603050405020304" pitchFamily="18" charset="0"/>
            </a:endParaRPr>
          </a:p>
          <a:p>
            <a:pPr marL="0" indent="0">
              <a:lnSpc>
                <a:spcPts val="5300"/>
              </a:lnSpc>
              <a:buNone/>
            </a:pPr>
            <a:endParaRPr lang="en-US" sz="42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BC51589F-3635-1120-079F-3F08BCE2A6EE}"/>
              </a:ext>
            </a:extLst>
          </p:cNvPr>
          <p:cNvCxnSpPr/>
          <p:nvPr/>
        </p:nvCxnSpPr>
        <p:spPr>
          <a:xfrm>
            <a:off x="4371278" y="845606"/>
            <a:ext cx="5620215"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4833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D54D1EF-5596-228A-950E-6A5F3E99B4AE}"/>
              </a:ext>
            </a:extLst>
          </p:cNvPr>
          <p:cNvSpPr/>
          <p:nvPr/>
        </p:nvSpPr>
        <p:spPr>
          <a:xfrm>
            <a:off x="1828115" y="1890593"/>
            <a:ext cx="11386079" cy="6040336"/>
          </a:xfrm>
          <a:prstGeom prst="rect">
            <a:avLst/>
          </a:prstGeom>
          <a:noFill/>
          <a:ln/>
        </p:spPr>
        <p:txBody>
          <a:bodyPr wrap="square" lIns="0" tIns="0" rIns="0" bIns="0" rtlCol="0" anchor="t"/>
          <a:lstStyle/>
          <a:p>
            <a:pPr algn="just">
              <a:lnSpc>
                <a:spcPct val="150000"/>
              </a:lnSpc>
            </a:pPr>
            <a:r>
              <a:rPr lang="en-US" sz="2200" dirty="0">
                <a:latin typeface="Times New Roman" panose="02020603050405020304" pitchFamily="18" charset="0"/>
                <a:cs typeface="Times New Roman" panose="02020603050405020304" pitchFamily="18" charset="0"/>
              </a:rPr>
              <a:t>Dementia is a progressive brain condition that affects memory, thinking, and behavior, mostly in older adults. It often goes unnoticed in its early stages, making treatment less effective later. Early detection is crucial to manage symptoms and improve quality of life. Cognito Track is an AI-based system designed to detect early signs of dementia by passively monitoring users' interactions with smart devices like smartphones, tablets, and voice assistants. It observes subtle behavior changes such as , navigation patterns, speech hesitation, and routine shifts. These patterns are converted into meaningful data and analyzed using machine learning models like LSTMs and Transformers to detect anomalies over time. The system uses federated learning and on-device processing to ensure privacy—user data never leaves the device. By building a personal behavior baseline and identifying deviations, Cognito Track can alert users or caregivers early, enabling timely medical attention and supporting preventive digital healthcare.</a:t>
            </a:r>
            <a:endParaRPr lang="en-US" sz="2200" spc="300" dirty="0">
              <a:latin typeface="Times New Roman" panose="02020603050405020304" pitchFamily="18" charset="0"/>
              <a:ea typeface="Crimson Pro Bold" pitchFamily="34" charset="-122"/>
              <a:cs typeface="Times New Roman" panose="02020603050405020304" pitchFamily="18" charset="0"/>
            </a:endParaRPr>
          </a:p>
        </p:txBody>
      </p:sp>
      <p:sp>
        <p:nvSpPr>
          <p:cNvPr id="3" name="Text 0">
            <a:extLst>
              <a:ext uri="{FF2B5EF4-FFF2-40B4-BE49-F238E27FC236}">
                <a16:creationId xmlns:a16="http://schemas.microsoft.com/office/drawing/2014/main" id="{0CFF15BD-0308-4EFE-D292-07A25D4F201F}"/>
              </a:ext>
            </a:extLst>
          </p:cNvPr>
          <p:cNvSpPr/>
          <p:nvPr/>
        </p:nvSpPr>
        <p:spPr>
          <a:xfrm>
            <a:off x="1788745" y="883808"/>
            <a:ext cx="3301445" cy="1346597"/>
          </a:xfrm>
          <a:prstGeom prst="rect">
            <a:avLst/>
          </a:prstGeom>
          <a:noFill/>
          <a:ln/>
        </p:spPr>
        <p:txBody>
          <a:bodyPr wrap="square" lIns="0" tIns="0" rIns="0" bIns="0" rtlCol="0" anchor="t"/>
          <a:lstStyle/>
          <a:p>
            <a:pPr marL="0" indent="0">
              <a:lnSpc>
                <a:spcPts val="5300"/>
              </a:lnSpc>
              <a:buNone/>
            </a:pPr>
            <a:r>
              <a:rPr lang="en-US" sz="4000" b="1" spc="300" dirty="0">
                <a:solidFill>
                  <a:srgbClr val="443728"/>
                </a:solidFill>
                <a:latin typeface="Times New Roman" panose="02020603050405020304" pitchFamily="18" charset="0"/>
                <a:ea typeface="Crimson Pro Bold" pitchFamily="34" charset="-122"/>
                <a:cs typeface="Times New Roman" panose="02020603050405020304" pitchFamily="18" charset="0"/>
              </a:rPr>
              <a:t>Abstract:</a:t>
            </a:r>
            <a:endParaRPr lang="en-US" sz="42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96A79149-60D4-3CF5-684E-57EF9334FB8D}"/>
              </a:ext>
            </a:extLst>
          </p:cNvPr>
          <p:cNvCxnSpPr>
            <a:cxnSpLocks/>
          </p:cNvCxnSpPr>
          <p:nvPr/>
        </p:nvCxnSpPr>
        <p:spPr>
          <a:xfrm flipV="1">
            <a:off x="1788745" y="1473772"/>
            <a:ext cx="2286684" cy="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57883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80097" y="612934"/>
            <a:ext cx="11478577" cy="696516"/>
          </a:xfrm>
          <a:prstGeom prst="rect">
            <a:avLst/>
          </a:prstGeom>
          <a:noFill/>
          <a:ln/>
        </p:spPr>
        <p:txBody>
          <a:bodyPr wrap="none" lIns="0" tIns="0" rIns="0" bIns="0" rtlCol="0" anchor="t"/>
          <a:lstStyle/>
          <a:p>
            <a:pPr marL="0" indent="0" algn="l">
              <a:lnSpc>
                <a:spcPts val="5450"/>
              </a:lnSpc>
              <a:buNone/>
            </a:pPr>
            <a:r>
              <a:rPr lang="en-US" sz="4350" b="1" dirty="0">
                <a:solidFill>
                  <a:srgbClr val="443728"/>
                </a:solidFill>
                <a:latin typeface="Times New Roman" panose="02020603050405020304" pitchFamily="18" charset="0"/>
                <a:ea typeface="Crimson Pro Bold" pitchFamily="34" charset="-122"/>
                <a:cs typeface="Times New Roman" panose="02020603050405020304" pitchFamily="18" charset="0"/>
              </a:rPr>
              <a:t>Introduction: </a:t>
            </a:r>
            <a:endParaRPr lang="en-US" sz="4350" dirty="0">
              <a:latin typeface="Times New Roman" panose="02020603050405020304" pitchFamily="18" charset="0"/>
              <a:cs typeface="Times New Roman" panose="02020603050405020304" pitchFamily="18" charset="0"/>
            </a:endParaRPr>
          </a:p>
        </p:txBody>
      </p:sp>
      <p:sp>
        <p:nvSpPr>
          <p:cNvPr id="3" name="Text 1"/>
          <p:cNvSpPr/>
          <p:nvPr/>
        </p:nvSpPr>
        <p:spPr>
          <a:xfrm>
            <a:off x="780098" y="1844278"/>
            <a:ext cx="6943844" cy="356592"/>
          </a:xfrm>
          <a:prstGeom prst="rect">
            <a:avLst/>
          </a:prstGeom>
          <a:noFill/>
          <a:ln/>
        </p:spPr>
        <p:txBody>
          <a:bodyPr wrap="none" lIns="0" tIns="0" rIns="0" bIns="0" rtlCol="0" anchor="t"/>
          <a:lstStyle/>
          <a:p>
            <a:pPr marL="0" indent="0" algn="l">
              <a:lnSpc>
                <a:spcPts val="2800"/>
              </a:lnSpc>
              <a:buNone/>
            </a:pPr>
            <a:endParaRPr lang="en-US" sz="1750" dirty="0">
              <a:latin typeface="Times New Roman" panose="02020603050405020304" pitchFamily="18" charset="0"/>
              <a:cs typeface="Times New Roman" panose="02020603050405020304" pitchFamily="18" charset="0"/>
            </a:endParaRPr>
          </a:p>
        </p:txBody>
      </p:sp>
      <p:sp>
        <p:nvSpPr>
          <p:cNvPr id="4" name="Text 2"/>
          <p:cNvSpPr/>
          <p:nvPr/>
        </p:nvSpPr>
        <p:spPr>
          <a:xfrm>
            <a:off x="780098" y="1692010"/>
            <a:ext cx="7293384" cy="713184"/>
          </a:xfrm>
          <a:prstGeom prst="rect">
            <a:avLst/>
          </a:prstGeom>
          <a:noFill/>
          <a:ln/>
        </p:spPr>
        <p:txBody>
          <a:bodyPr wrap="square" lIns="0" tIns="0" rIns="0" bIns="0" rtlCol="0" anchor="t"/>
          <a:lstStyle/>
          <a:p>
            <a:pPr algn="just">
              <a:lnSpc>
                <a:spcPct val="150000"/>
              </a:lnSpc>
            </a:pPr>
            <a:r>
              <a:rPr lang="en-US" sz="2200" dirty="0">
                <a:solidFill>
                  <a:srgbClr val="443728"/>
                </a:solidFill>
                <a:latin typeface="Times New Roman" panose="02020603050405020304" pitchFamily="18" charset="0"/>
                <a:ea typeface="Open Sans" pitchFamily="34" charset="-122"/>
                <a:cs typeface="Times New Roman" panose="02020603050405020304" pitchFamily="18" charset="0"/>
              </a:rPr>
              <a:t>Dementia is a progressive brain condition. </a:t>
            </a:r>
            <a:r>
              <a:rPr lang="en-US" sz="2200" dirty="0">
                <a:latin typeface="Times New Roman" panose="02020603050405020304" pitchFamily="18" charset="0"/>
                <a:cs typeface="Times New Roman" panose="02020603050405020304" pitchFamily="18" charset="0"/>
              </a:rPr>
              <a:t>It’s a </a:t>
            </a:r>
            <a:r>
              <a:rPr lang="en-US" sz="2200" b="1" dirty="0">
                <a:latin typeface="Times New Roman" panose="02020603050405020304" pitchFamily="18" charset="0"/>
                <a:cs typeface="Times New Roman" panose="02020603050405020304" pitchFamily="18" charset="0"/>
              </a:rPr>
              <a:t>group of symptoms</a:t>
            </a:r>
            <a:r>
              <a:rPr lang="en-US" sz="2200" dirty="0">
                <a:latin typeface="Times New Roman" panose="02020603050405020304" pitchFamily="18" charset="0"/>
                <a:cs typeface="Times New Roman" panose="02020603050405020304" pitchFamily="18" charset="0"/>
              </a:rPr>
              <a:t> that affect memory, thinking, behavior, and the ability to perform daily activities. It happens when brain cells are damaged and can no longer communicate properly. </a:t>
            </a:r>
          </a:p>
          <a:p>
            <a:pPr algn="just">
              <a:lnSpc>
                <a:spcPct val="150000"/>
              </a:lnSpc>
            </a:pPr>
            <a:r>
              <a:rPr lang="en-US" sz="2200" dirty="0">
                <a:latin typeface="Times New Roman" panose="02020603050405020304" pitchFamily="18" charset="0"/>
                <a:cs typeface="Times New Roman" panose="02020603050405020304" pitchFamily="18" charset="0"/>
              </a:rPr>
              <a:t>The most common cause is </a:t>
            </a:r>
            <a:r>
              <a:rPr lang="en-US" sz="2200" b="1" dirty="0">
                <a:latin typeface="Times New Roman" panose="02020603050405020304" pitchFamily="18" charset="0"/>
                <a:cs typeface="Times New Roman" panose="02020603050405020304" pitchFamily="18" charset="0"/>
              </a:rPr>
              <a:t>Alzheimer’s disease</a:t>
            </a:r>
            <a:r>
              <a:rPr lang="en-US" sz="2200" dirty="0">
                <a:latin typeface="Times New Roman" panose="02020603050405020304" pitchFamily="18" charset="0"/>
                <a:cs typeface="Times New Roman" panose="02020603050405020304" pitchFamily="18" charset="0"/>
              </a:rPr>
              <a:t>, but there are other types like </a:t>
            </a:r>
            <a:r>
              <a:rPr lang="en-US" sz="2200" b="1" dirty="0">
                <a:latin typeface="Times New Roman" panose="02020603050405020304" pitchFamily="18" charset="0"/>
                <a:cs typeface="Times New Roman" panose="02020603050405020304" pitchFamily="18" charset="0"/>
              </a:rPr>
              <a:t>Vascular dementia</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Lewy body dementia</a:t>
            </a:r>
            <a:r>
              <a:rPr lang="en-US" sz="2200" dirty="0">
                <a:latin typeface="Times New Roman" panose="02020603050405020304" pitchFamily="18" charset="0"/>
                <a:cs typeface="Times New Roman" panose="02020603050405020304" pitchFamily="18" charset="0"/>
              </a:rPr>
              <a:t>.</a:t>
            </a:r>
          </a:p>
        </p:txBody>
      </p:sp>
      <p:sp>
        <p:nvSpPr>
          <p:cNvPr id="5" name="Text 3"/>
          <p:cNvSpPr/>
          <p:nvPr/>
        </p:nvSpPr>
        <p:spPr>
          <a:xfrm>
            <a:off x="780098" y="3315057"/>
            <a:ext cx="6943844" cy="356592"/>
          </a:xfrm>
          <a:prstGeom prst="rect">
            <a:avLst/>
          </a:prstGeom>
          <a:noFill/>
          <a:ln/>
        </p:spPr>
        <p:txBody>
          <a:bodyPr wrap="none" lIns="0" tIns="0" rIns="0" bIns="0" rtlCol="0" anchor="t"/>
          <a:lstStyle/>
          <a:p>
            <a:pPr marL="0" indent="0" algn="l">
              <a:lnSpc>
                <a:spcPts val="2800"/>
              </a:lnSpc>
              <a:buNone/>
            </a:pPr>
            <a:endParaRPr lang="en-US" sz="1750" dirty="0">
              <a:latin typeface="Times New Roman" panose="02020603050405020304" pitchFamily="18" charset="0"/>
              <a:cs typeface="Times New Roman" panose="02020603050405020304" pitchFamily="18" charset="0"/>
            </a:endParaRPr>
          </a:p>
        </p:txBody>
      </p:sp>
      <p:sp>
        <p:nvSpPr>
          <p:cNvPr id="6" name="Text 4"/>
          <p:cNvSpPr/>
          <p:nvPr/>
        </p:nvSpPr>
        <p:spPr>
          <a:xfrm>
            <a:off x="780097" y="4986337"/>
            <a:ext cx="7293385" cy="713184"/>
          </a:xfrm>
          <a:prstGeom prst="rect">
            <a:avLst/>
          </a:prstGeom>
          <a:noFill/>
          <a:ln/>
        </p:spPr>
        <p:txBody>
          <a:bodyPr wrap="square" lIns="0" tIns="0" rIns="0" bIns="0" rtlCol="0" anchor="t"/>
          <a:lstStyle/>
          <a:p>
            <a:pPr algn="just">
              <a:lnSpc>
                <a:spcPct val="150000"/>
              </a:lnSpc>
            </a:pPr>
            <a:r>
              <a:rPr lang="en-US" sz="2200" dirty="0">
                <a:solidFill>
                  <a:srgbClr val="443728"/>
                </a:solidFill>
                <a:latin typeface="Times New Roman" panose="02020603050405020304" pitchFamily="18" charset="0"/>
                <a:ea typeface="Open Sans" pitchFamily="34" charset="-122"/>
                <a:cs typeface="Times New Roman" panose="02020603050405020304" pitchFamily="18" charset="0"/>
              </a:rPr>
              <a:t>Crucially, it often goes unnoticed in its early stages, significantly limiting the effectiveness of treatment.</a:t>
            </a:r>
            <a:r>
              <a:rPr lang="en-US" sz="2400" b="1" dirty="0"/>
              <a:t> </a:t>
            </a:r>
            <a:endParaRPr lang="en-US" sz="2200" dirty="0">
              <a:latin typeface="Times New Roman" panose="02020603050405020304" pitchFamily="18" charset="0"/>
              <a:cs typeface="Times New Roman" panose="02020603050405020304" pitchFamily="18" charset="0"/>
            </a:endParaRPr>
          </a:p>
        </p:txBody>
      </p:sp>
      <p:sp>
        <p:nvSpPr>
          <p:cNvPr id="7" name="Text 5"/>
          <p:cNvSpPr/>
          <p:nvPr/>
        </p:nvSpPr>
        <p:spPr>
          <a:xfrm>
            <a:off x="780098" y="4785836"/>
            <a:ext cx="6943844" cy="356592"/>
          </a:xfrm>
          <a:prstGeom prst="rect">
            <a:avLst/>
          </a:prstGeom>
          <a:noFill/>
          <a:ln/>
        </p:spPr>
        <p:txBody>
          <a:bodyPr wrap="none" lIns="0" tIns="0" rIns="0" bIns="0" rtlCol="0" anchor="t"/>
          <a:lstStyle/>
          <a:p>
            <a:pPr marL="0" indent="0" algn="l">
              <a:lnSpc>
                <a:spcPts val="2800"/>
              </a:lnSpc>
              <a:buNone/>
            </a:pPr>
            <a:endParaRPr lang="en-US" sz="1750" dirty="0">
              <a:latin typeface="Times New Roman" panose="02020603050405020304" pitchFamily="18" charset="0"/>
              <a:cs typeface="Times New Roman" panose="02020603050405020304" pitchFamily="18" charset="0"/>
            </a:endParaRPr>
          </a:p>
        </p:txBody>
      </p:sp>
      <p:sp>
        <p:nvSpPr>
          <p:cNvPr id="8" name="Text 6"/>
          <p:cNvSpPr/>
          <p:nvPr/>
        </p:nvSpPr>
        <p:spPr>
          <a:xfrm>
            <a:off x="780098" y="6256615"/>
            <a:ext cx="6943844" cy="1069777"/>
          </a:xfrm>
          <a:prstGeom prst="rect">
            <a:avLst/>
          </a:prstGeom>
          <a:noFill/>
          <a:ln/>
        </p:spPr>
        <p:txBody>
          <a:bodyPr wrap="square" lIns="0" tIns="0" rIns="0" bIns="0" rtlCol="0" anchor="t"/>
          <a:lstStyle/>
          <a:p>
            <a:pPr marL="0" indent="0" algn="just">
              <a:lnSpc>
                <a:spcPct val="150000"/>
              </a:lnSpc>
              <a:buNone/>
            </a:pPr>
            <a:r>
              <a:rPr lang="en-US" sz="2200" dirty="0">
                <a:solidFill>
                  <a:srgbClr val="443728"/>
                </a:solidFill>
                <a:latin typeface="Times New Roman" panose="02020603050405020304" pitchFamily="18" charset="0"/>
                <a:ea typeface="Open Sans" pitchFamily="34" charset="-122"/>
                <a:cs typeface="Times New Roman" panose="02020603050405020304" pitchFamily="18" charset="0"/>
              </a:rPr>
              <a:t>Early detection is vital for managing symptoms, improving the quality of life for patients, and enabling timely medical intervention.</a:t>
            </a:r>
            <a:endParaRPr lang="en-US" sz="2200" dirty="0">
              <a:latin typeface="Times New Roman" panose="02020603050405020304" pitchFamily="18" charset="0"/>
              <a:cs typeface="Times New Roman" panose="02020603050405020304" pitchFamily="18" charset="0"/>
            </a:endParaRPr>
          </a:p>
        </p:txBody>
      </p:sp>
      <p:pic>
        <p:nvPicPr>
          <p:cNvPr id="1026" name="Picture 2" descr="Tulane researcher asks, “Could chronic Lyme contribute to Alzheimer's  dementia?”">
            <a:extLst>
              <a:ext uri="{FF2B5EF4-FFF2-40B4-BE49-F238E27FC236}">
                <a16:creationId xmlns:a16="http://schemas.microsoft.com/office/drawing/2014/main" id="{E8E8A20D-E592-2A4A-B2B4-796F0AC6E4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4928" y="1582555"/>
            <a:ext cx="5486887" cy="5486887"/>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36A81095-D483-0363-AC28-EC44B28A03FA}"/>
              </a:ext>
            </a:extLst>
          </p:cNvPr>
          <p:cNvCxnSpPr/>
          <p:nvPr/>
        </p:nvCxnSpPr>
        <p:spPr>
          <a:xfrm>
            <a:off x="780098" y="1175635"/>
            <a:ext cx="3122829"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92098" y="189575"/>
            <a:ext cx="4270778" cy="617458"/>
          </a:xfrm>
          <a:prstGeom prst="rect">
            <a:avLst/>
          </a:prstGeom>
          <a:noFill/>
          <a:ln/>
        </p:spPr>
        <p:txBody>
          <a:bodyPr wrap="none" lIns="0" tIns="0" rIns="0" bIns="0" rtlCol="0" anchor="t"/>
          <a:lstStyle/>
          <a:p>
            <a:pPr marL="0" indent="0" algn="l">
              <a:lnSpc>
                <a:spcPts val="4850"/>
              </a:lnSpc>
              <a:buNone/>
            </a:pPr>
            <a:r>
              <a:rPr lang="en-US" sz="4000" b="1" dirty="0">
                <a:solidFill>
                  <a:srgbClr val="443728"/>
                </a:solidFill>
                <a:latin typeface="Times New Roman" panose="02020603050405020304" pitchFamily="18" charset="0"/>
                <a:ea typeface="Crimson Pro Bold" pitchFamily="34" charset="-122"/>
                <a:cs typeface="Times New Roman" panose="02020603050405020304" pitchFamily="18" charset="0"/>
              </a:rPr>
              <a:t>Literature &amp; Survey: </a:t>
            </a:r>
            <a:endParaRPr lang="en-US" sz="4000" dirty="0">
              <a:latin typeface="Times New Roman" panose="02020603050405020304" pitchFamily="18" charset="0"/>
              <a:cs typeface="Times New Roman" panose="02020603050405020304" pitchFamily="18" charset="0"/>
            </a:endParaRPr>
          </a:p>
        </p:txBody>
      </p:sp>
      <p:graphicFrame>
        <p:nvGraphicFramePr>
          <p:cNvPr id="16" name="Table 15">
            <a:extLst>
              <a:ext uri="{FF2B5EF4-FFF2-40B4-BE49-F238E27FC236}">
                <a16:creationId xmlns:a16="http://schemas.microsoft.com/office/drawing/2014/main" id="{0776A819-BE31-93E4-D09B-FD5FC66128C3}"/>
              </a:ext>
            </a:extLst>
          </p:cNvPr>
          <p:cNvGraphicFramePr>
            <a:graphicFrameLocks noGrp="1"/>
          </p:cNvGraphicFramePr>
          <p:nvPr>
            <p:extLst>
              <p:ext uri="{D42A27DB-BD31-4B8C-83A1-F6EECF244321}">
                <p14:modId xmlns:p14="http://schemas.microsoft.com/office/powerpoint/2010/main" val="2418105408"/>
              </p:ext>
            </p:extLst>
          </p:nvPr>
        </p:nvGraphicFramePr>
        <p:xfrm>
          <a:off x="769434" y="788515"/>
          <a:ext cx="13080384" cy="7284720"/>
        </p:xfrm>
        <a:graphic>
          <a:graphicData uri="http://schemas.openxmlformats.org/drawingml/2006/table">
            <a:tbl>
              <a:tblPr firstRow="1" bandRow="1">
                <a:tableStyleId>{5C22544A-7EE6-4342-B048-85BDC9FD1C3A}</a:tableStyleId>
              </a:tblPr>
              <a:tblGrid>
                <a:gridCol w="3270096">
                  <a:extLst>
                    <a:ext uri="{9D8B030D-6E8A-4147-A177-3AD203B41FA5}">
                      <a16:colId xmlns:a16="http://schemas.microsoft.com/office/drawing/2014/main" val="1360240084"/>
                    </a:ext>
                  </a:extLst>
                </a:gridCol>
                <a:gridCol w="3270096">
                  <a:extLst>
                    <a:ext uri="{9D8B030D-6E8A-4147-A177-3AD203B41FA5}">
                      <a16:colId xmlns:a16="http://schemas.microsoft.com/office/drawing/2014/main" val="4151037486"/>
                    </a:ext>
                  </a:extLst>
                </a:gridCol>
                <a:gridCol w="3270096">
                  <a:extLst>
                    <a:ext uri="{9D8B030D-6E8A-4147-A177-3AD203B41FA5}">
                      <a16:colId xmlns:a16="http://schemas.microsoft.com/office/drawing/2014/main" val="4191709359"/>
                    </a:ext>
                  </a:extLst>
                </a:gridCol>
                <a:gridCol w="3270096">
                  <a:extLst>
                    <a:ext uri="{9D8B030D-6E8A-4147-A177-3AD203B41FA5}">
                      <a16:colId xmlns:a16="http://schemas.microsoft.com/office/drawing/2014/main" val="123987239"/>
                    </a:ext>
                  </a:extLst>
                </a:gridCol>
              </a:tblGrid>
              <a:tr h="429921">
                <a:tc>
                  <a:txBody>
                    <a:bodyPr/>
                    <a:lstStyle/>
                    <a:p>
                      <a:pPr algn="ctr"/>
                      <a:r>
                        <a:rPr lang="en-IN" sz="2400" dirty="0">
                          <a:latin typeface="Times New Roman" panose="02020603050405020304" pitchFamily="18" charset="0"/>
                          <a:cs typeface="Times New Roman" panose="02020603050405020304" pitchFamily="18" charset="0"/>
                        </a:rPr>
                        <a:t>Author(s) &amp; Year</a:t>
                      </a:r>
                    </a:p>
                  </a:txBody>
                  <a:tcPr anchor="ctr"/>
                </a:tc>
                <a:tc>
                  <a:txBody>
                    <a:bodyPr/>
                    <a:lstStyle/>
                    <a:p>
                      <a:pPr algn="ctr"/>
                      <a:r>
                        <a:rPr lang="en-IN" sz="2400" dirty="0">
                          <a:latin typeface="Times New Roman" panose="02020603050405020304" pitchFamily="18" charset="0"/>
                          <a:cs typeface="Times New Roman" panose="02020603050405020304" pitchFamily="18" charset="0"/>
                        </a:rPr>
                        <a:t>Methodology</a:t>
                      </a:r>
                    </a:p>
                  </a:txBody>
                  <a:tcPr anchor="ctr"/>
                </a:tc>
                <a:tc>
                  <a:txBody>
                    <a:bodyPr/>
                    <a:lstStyle/>
                    <a:p>
                      <a:pPr algn="ctr"/>
                      <a:r>
                        <a:rPr lang="en-IN" sz="2400" dirty="0">
                          <a:latin typeface="Times New Roman" panose="02020603050405020304" pitchFamily="18" charset="0"/>
                          <a:cs typeface="Times New Roman" panose="02020603050405020304" pitchFamily="18" charset="0"/>
                        </a:rPr>
                        <a:t>Remark</a:t>
                      </a:r>
                    </a:p>
                  </a:txBody>
                  <a:tcPr anchor="ctr"/>
                </a:tc>
                <a:tc>
                  <a:txBody>
                    <a:bodyPr/>
                    <a:lstStyle/>
                    <a:p>
                      <a:pPr algn="ctr"/>
                      <a:r>
                        <a:rPr lang="en-IN" sz="2400" dirty="0">
                          <a:latin typeface="Times New Roman" panose="02020603050405020304" pitchFamily="18" charset="0"/>
                          <a:cs typeface="Times New Roman" panose="02020603050405020304" pitchFamily="18" charset="0"/>
                        </a:rPr>
                        <a:t>Results</a:t>
                      </a:r>
                    </a:p>
                  </a:txBody>
                  <a:tcPr anchor="ctr"/>
                </a:tc>
                <a:extLst>
                  <a:ext uri="{0D108BD9-81ED-4DB2-BD59-A6C34878D82A}">
                    <a16:rowId xmlns:a16="http://schemas.microsoft.com/office/drawing/2014/main" val="11067807"/>
                  </a:ext>
                </a:extLst>
              </a:tr>
              <a:tr h="15190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err="1">
                          <a:latin typeface="Times New Roman" panose="02020603050405020304" pitchFamily="18" charset="0"/>
                          <a:cs typeface="Times New Roman" panose="02020603050405020304" pitchFamily="18" charset="0"/>
                        </a:rPr>
                        <a:t>Ntracha</a:t>
                      </a:r>
                      <a:r>
                        <a:rPr lang="en-IN" sz="1800" dirty="0">
                          <a:latin typeface="Times New Roman" panose="02020603050405020304" pitchFamily="18" charset="0"/>
                          <a:cs typeface="Times New Roman" panose="02020603050405020304" pitchFamily="18" charset="0"/>
                        </a:rPr>
                        <a:t> et al., 2020  Frontiers in Digital Health</a:t>
                      </a:r>
                    </a:p>
                  </a:txBody>
                  <a:tcPr anchor="ctr"/>
                </a:tc>
                <a:tc>
                  <a:txBody>
                    <a:bodyPr/>
                    <a:lstStyle/>
                    <a:p>
                      <a:pPr algn="l"/>
                      <a:r>
                        <a:rPr lang="en-US" sz="2000" dirty="0">
                          <a:latin typeface="Times New Roman" panose="02020603050405020304" pitchFamily="18" charset="0"/>
                          <a:cs typeface="Times New Roman" panose="02020603050405020304" pitchFamily="18" charset="0"/>
                        </a:rPr>
                        <a:t>Collected natural typing data; analyzed keystroke dynamics using machine learning to identify mild cognitive impairment.</a:t>
                      </a:r>
                      <a:endParaRPr lang="en-IN"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latin typeface="Times New Roman" panose="02020603050405020304" pitchFamily="18" charset="0"/>
                          <a:cs typeface="Times New Roman" panose="02020603050405020304" pitchFamily="18" charset="0"/>
                        </a:rPr>
                        <a:t>First real-world evidence linking typing speed, latency, and errors to cognitive decline.</a:t>
                      </a:r>
                      <a:endParaRPr lang="en-IN"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latin typeface="Times New Roman" panose="02020603050405020304" pitchFamily="18" charset="0"/>
                          <a:cs typeface="Times New Roman" panose="02020603050405020304" pitchFamily="18" charset="0"/>
                        </a:rPr>
                        <a:t>Demonstrated ~80% accuracy in distinguishing MCI from healthy controls using passive keystroke data.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40410879"/>
                  </a:ext>
                </a:extLst>
              </a:tr>
              <a:tr h="1633699">
                <a:tc>
                  <a:txBody>
                    <a:bodyPr/>
                    <a:lstStyle/>
                    <a:p>
                      <a:r>
                        <a:rPr lang="fr-FR" dirty="0">
                          <a:latin typeface="Times New Roman" panose="02020603050405020304" pitchFamily="18" charset="0"/>
                          <a:cs typeface="Times New Roman" panose="02020603050405020304" pitchFamily="18" charset="0"/>
                        </a:rPr>
                        <a:t>Liang et al., 2021 – Voice Assistant Command </a:t>
                      </a:r>
                      <a:r>
                        <a:rPr lang="fr-FR" dirty="0" err="1">
                          <a:latin typeface="Times New Roman" panose="02020603050405020304" pitchFamily="18" charset="0"/>
                          <a:cs typeface="Times New Roman" panose="02020603050405020304" pitchFamily="18" charset="0"/>
                        </a:rPr>
                        <a:t>Dataset</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US" dirty="0">
                          <a:latin typeface="Times New Roman" panose="02020603050405020304" pitchFamily="18" charset="0"/>
                          <a:cs typeface="Times New Roman" panose="02020603050405020304" pitchFamily="18" charset="0"/>
                        </a:rPr>
                        <a:t>Captured Alexa/voice-assistant command audio; extracted acoustic and linguistic features to detect dementia cues.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Innovative use of smart home voice interactions for dementia detection.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Speech hesitation and reduced lexical diversity predicted cognitive decline with promising accuracy (~78%).</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4342602"/>
                  </a:ext>
                </a:extLst>
              </a:tr>
              <a:tr h="1633699">
                <a:tc>
                  <a:txBody>
                    <a:bodyPr/>
                    <a:lstStyle/>
                    <a:p>
                      <a:r>
                        <a:rPr lang="en-IN" dirty="0">
                          <a:latin typeface="Times New Roman" panose="02020603050405020304" pitchFamily="18" charset="0"/>
                          <a:cs typeface="Times New Roman" panose="02020603050405020304" pitchFamily="18" charset="0"/>
                        </a:rPr>
                        <a:t>Nguyen et al., 2023 – Smartphone Keystroke Review</a:t>
                      </a:r>
                    </a:p>
                  </a:txBody>
                  <a:tcPr anchor="ctr"/>
                </a:tc>
                <a:tc>
                  <a:txBody>
                    <a:bodyPr/>
                    <a:lstStyle/>
                    <a:p>
                      <a:r>
                        <a:rPr lang="en-US" dirty="0">
                          <a:latin typeface="Times New Roman" panose="02020603050405020304" pitchFamily="18" charset="0"/>
                          <a:cs typeface="Times New Roman" panose="02020603050405020304" pitchFamily="18" charset="0"/>
                        </a:rPr>
                        <a:t>Systematic review of keystroke-based digital biomarkers across mobile and PC platforms.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Summarized feature engineering methods (dwell, flight, pause time) and data collection designs.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Identified consistent correlations between slower typing rhythm and cognitive impairment severity.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95765888"/>
                  </a:ext>
                </a:extLst>
              </a:tr>
              <a:tr h="1633699">
                <a:tc>
                  <a:txBody>
                    <a:bodyPr/>
                    <a:lstStyle/>
                    <a:p>
                      <a:r>
                        <a:rPr lang="nb-NO" dirty="0">
                          <a:latin typeface="Times New Roman" panose="02020603050405020304" pitchFamily="18" charset="0"/>
                          <a:cs typeface="Times New Roman" panose="02020603050405020304" pitchFamily="18" charset="0"/>
                        </a:rPr>
                        <a:t>Park et al., 2024 – JMIR / Sensors</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US" dirty="0">
                          <a:latin typeface="Times New Roman" panose="02020603050405020304" pitchFamily="18" charset="0"/>
                          <a:cs typeface="Times New Roman" panose="02020603050405020304" pitchFamily="18" charset="0"/>
                        </a:rPr>
                        <a:t>Developed “</a:t>
                      </a:r>
                      <a:r>
                        <a:rPr lang="en-US" dirty="0" err="1">
                          <a:latin typeface="Times New Roman" panose="02020603050405020304" pitchFamily="18" charset="0"/>
                          <a:cs typeface="Times New Roman" panose="02020603050405020304" pitchFamily="18" charset="0"/>
                        </a:rPr>
                        <a:t>NeuroKeys</a:t>
                      </a:r>
                      <a:r>
                        <a:rPr lang="en-US" dirty="0">
                          <a:latin typeface="Times New Roman" panose="02020603050405020304" pitchFamily="18" charset="0"/>
                          <a:cs typeface="Times New Roman" panose="02020603050405020304" pitchFamily="18" charset="0"/>
                        </a:rPr>
                        <a:t>” smartphone keyboard app; collected real typing data; applied deep learning for classification.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Real-world mobile study integrating behavioral and cognitive analytics.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Demonstrated &gt;85% accuracy in distinguishing early cognitive decline; proved smartphone-based monitoring is feasible.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68557137"/>
                  </a:ext>
                </a:extLst>
              </a:tr>
            </a:tbl>
          </a:graphicData>
        </a:graphic>
      </p:graphicFrame>
      <p:cxnSp>
        <p:nvCxnSpPr>
          <p:cNvPr id="4" name="Straight Connector 3">
            <a:extLst>
              <a:ext uri="{FF2B5EF4-FFF2-40B4-BE49-F238E27FC236}">
                <a16:creationId xmlns:a16="http://schemas.microsoft.com/office/drawing/2014/main" id="{9BBC04C3-3FCC-73EB-8444-4086AD8289EB}"/>
              </a:ext>
            </a:extLst>
          </p:cNvPr>
          <p:cNvCxnSpPr>
            <a:cxnSpLocks/>
          </p:cNvCxnSpPr>
          <p:nvPr/>
        </p:nvCxnSpPr>
        <p:spPr>
          <a:xfrm>
            <a:off x="892098" y="717821"/>
            <a:ext cx="4549697"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52" name="Text 0">
            <a:extLst>
              <a:ext uri="{FF2B5EF4-FFF2-40B4-BE49-F238E27FC236}">
                <a16:creationId xmlns:a16="http://schemas.microsoft.com/office/drawing/2014/main" id="{813ADE44-1623-378A-967D-9DD654F44E1D}"/>
              </a:ext>
            </a:extLst>
          </p:cNvPr>
          <p:cNvSpPr/>
          <p:nvPr/>
        </p:nvSpPr>
        <p:spPr>
          <a:xfrm>
            <a:off x="341388" y="172861"/>
            <a:ext cx="3989885" cy="603171"/>
          </a:xfrm>
          <a:prstGeom prst="rect">
            <a:avLst/>
          </a:prstGeom>
          <a:noFill/>
          <a:ln/>
        </p:spPr>
        <p:txBody>
          <a:bodyPr wrap="none" lIns="0" tIns="0" rIns="0" bIns="0" rtlCol="0" anchor="t"/>
          <a:lstStyle/>
          <a:p>
            <a:pPr marL="0" indent="0" algn="l">
              <a:lnSpc>
                <a:spcPts val="4750"/>
              </a:lnSpc>
              <a:buNone/>
            </a:pPr>
            <a:r>
              <a:rPr lang="en-US" sz="4000" b="1" dirty="0">
                <a:solidFill>
                  <a:srgbClr val="443728"/>
                </a:solidFill>
                <a:latin typeface="Times New Roman" panose="02020603050405020304" pitchFamily="18" charset="0"/>
                <a:ea typeface="Crimson Pro Bold" pitchFamily="34" charset="-122"/>
                <a:cs typeface="Times New Roman" panose="02020603050405020304" pitchFamily="18" charset="0"/>
              </a:rPr>
              <a:t>Methodology:</a:t>
            </a:r>
            <a:endParaRPr lang="en-US" sz="4000" dirty="0">
              <a:latin typeface="Times New Roman" panose="02020603050405020304" pitchFamily="18" charset="0"/>
              <a:cs typeface="Times New Roman" panose="02020603050405020304" pitchFamily="18" charset="0"/>
            </a:endParaRPr>
          </a:p>
        </p:txBody>
      </p:sp>
      <p:sp>
        <p:nvSpPr>
          <p:cNvPr id="56" name="Text 0">
            <a:extLst>
              <a:ext uri="{FF2B5EF4-FFF2-40B4-BE49-F238E27FC236}">
                <a16:creationId xmlns:a16="http://schemas.microsoft.com/office/drawing/2014/main" id="{AF22DB52-53CA-1A4A-DDE7-2083614C1F4F}"/>
              </a:ext>
            </a:extLst>
          </p:cNvPr>
          <p:cNvSpPr/>
          <p:nvPr/>
        </p:nvSpPr>
        <p:spPr>
          <a:xfrm>
            <a:off x="11590884" y="1252398"/>
            <a:ext cx="1674541" cy="603171"/>
          </a:xfrm>
          <a:prstGeom prst="rect">
            <a:avLst/>
          </a:prstGeom>
          <a:noFill/>
          <a:ln/>
        </p:spPr>
        <p:txBody>
          <a:bodyPr wrap="none" lIns="0" tIns="0" rIns="0" bIns="0" rtlCol="0" anchor="t"/>
          <a:lstStyle/>
          <a:p>
            <a:pPr marL="0" indent="0" algn="l">
              <a:lnSpc>
                <a:spcPts val="4750"/>
              </a:lnSpc>
              <a:buNone/>
            </a:pPr>
            <a:endParaRPr lang="en-US" sz="3200" dirty="0">
              <a:latin typeface="Times New Roman" panose="02020603050405020304" pitchFamily="18" charset="0"/>
              <a:cs typeface="Times New Roman" panose="02020603050405020304" pitchFamily="18" charset="0"/>
            </a:endParaRPr>
          </a:p>
        </p:txBody>
      </p:sp>
      <p:sp>
        <p:nvSpPr>
          <p:cNvPr id="57" name="Text 0">
            <a:extLst>
              <a:ext uri="{FF2B5EF4-FFF2-40B4-BE49-F238E27FC236}">
                <a16:creationId xmlns:a16="http://schemas.microsoft.com/office/drawing/2014/main" id="{F357A402-F810-28E6-C1DC-509AF8F2B0E0}"/>
              </a:ext>
            </a:extLst>
          </p:cNvPr>
          <p:cNvSpPr/>
          <p:nvPr/>
        </p:nvSpPr>
        <p:spPr>
          <a:xfrm>
            <a:off x="1679760" y="1439545"/>
            <a:ext cx="1674541" cy="603171"/>
          </a:xfrm>
          <a:prstGeom prst="rect">
            <a:avLst/>
          </a:prstGeom>
          <a:noFill/>
          <a:ln/>
        </p:spPr>
        <p:txBody>
          <a:bodyPr wrap="none" lIns="0" tIns="0" rIns="0" bIns="0" rtlCol="0" anchor="t"/>
          <a:lstStyle/>
          <a:p>
            <a:pPr marL="0" indent="0" algn="l">
              <a:lnSpc>
                <a:spcPts val="4750"/>
              </a:lnSpc>
              <a:buNone/>
            </a:pPr>
            <a:endParaRPr lang="en-US" sz="3200" dirty="0">
              <a:latin typeface="Times New Roman" panose="02020603050405020304" pitchFamily="18" charset="0"/>
              <a:cs typeface="Times New Roman" panose="02020603050405020304" pitchFamily="18" charset="0"/>
            </a:endParaRPr>
          </a:p>
        </p:txBody>
      </p:sp>
      <p:cxnSp>
        <p:nvCxnSpPr>
          <p:cNvPr id="33" name="Straight Connector 32">
            <a:extLst>
              <a:ext uri="{FF2B5EF4-FFF2-40B4-BE49-F238E27FC236}">
                <a16:creationId xmlns:a16="http://schemas.microsoft.com/office/drawing/2014/main" id="{B2D86815-5DD7-99F7-8546-C76DE93EA5DC}"/>
              </a:ext>
            </a:extLst>
          </p:cNvPr>
          <p:cNvCxnSpPr/>
          <p:nvPr/>
        </p:nvCxnSpPr>
        <p:spPr>
          <a:xfrm>
            <a:off x="341388" y="811497"/>
            <a:ext cx="2914768" cy="0"/>
          </a:xfrm>
          <a:prstGeom prst="line">
            <a:avLst/>
          </a:prstGeom>
        </p:spPr>
        <p:style>
          <a:lnRef idx="1">
            <a:schemeClr val="dk1"/>
          </a:lnRef>
          <a:fillRef idx="0">
            <a:schemeClr val="dk1"/>
          </a:fillRef>
          <a:effectRef idx="0">
            <a:schemeClr val="dk1"/>
          </a:effectRef>
          <a:fontRef idx="minor">
            <a:schemeClr val="tx1"/>
          </a:fontRef>
        </p:style>
      </p:cxnSp>
      <p:pic>
        <p:nvPicPr>
          <p:cNvPr id="77" name="Picture 76">
            <a:extLst>
              <a:ext uri="{FF2B5EF4-FFF2-40B4-BE49-F238E27FC236}">
                <a16:creationId xmlns:a16="http://schemas.microsoft.com/office/drawing/2014/main" id="{D6FAC08D-E939-5A77-F93C-A311B844BEF0}"/>
              </a:ext>
            </a:extLst>
          </p:cNvPr>
          <p:cNvPicPr>
            <a:picLocks noChangeAspect="1"/>
          </p:cNvPicPr>
          <p:nvPr/>
        </p:nvPicPr>
        <p:blipFill>
          <a:blip r:embed="rId3"/>
          <a:stretch>
            <a:fillRect/>
          </a:stretch>
        </p:blipFill>
        <p:spPr>
          <a:xfrm>
            <a:off x="3354301" y="846963"/>
            <a:ext cx="8744772" cy="69492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4BB46CF-2492-6292-7B18-FBBB0C0B7C3A}"/>
              </a:ext>
            </a:extLst>
          </p:cNvPr>
          <p:cNvSpPr/>
          <p:nvPr/>
        </p:nvSpPr>
        <p:spPr>
          <a:xfrm>
            <a:off x="916453" y="156958"/>
            <a:ext cx="9186551" cy="1017917"/>
          </a:xfrm>
          <a:prstGeom prst="rect">
            <a:avLst/>
          </a:prstGeom>
          <a:noFill/>
          <a:ln/>
        </p:spPr>
        <p:txBody>
          <a:bodyPr wrap="square" lIns="0" tIns="0" rIns="0" bIns="0" rtlCol="0" anchor="t"/>
          <a:lstStyle/>
          <a:p>
            <a:pPr>
              <a:lnSpc>
                <a:spcPts val="5550"/>
              </a:lnSpc>
            </a:pPr>
            <a:r>
              <a:rPr lang="en-US" sz="4000" b="1" dirty="0">
                <a:solidFill>
                  <a:srgbClr val="443728"/>
                </a:solidFill>
                <a:latin typeface="Times New Roman" panose="02020603050405020304" pitchFamily="18" charset="0"/>
                <a:ea typeface="Crimson Pro Bold" pitchFamily="34" charset="-122"/>
                <a:cs typeface="Times New Roman" panose="02020603050405020304" pitchFamily="18" charset="0"/>
              </a:rPr>
              <a:t>Gaps in Existing Literature:</a:t>
            </a:r>
            <a:endParaRPr lang="en-US" sz="4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8EB1A47-A3BC-9BA5-28E3-E2B739D3F209}"/>
              </a:ext>
            </a:extLst>
          </p:cNvPr>
          <p:cNvSpPr txBox="1"/>
          <p:nvPr/>
        </p:nvSpPr>
        <p:spPr>
          <a:xfrm>
            <a:off x="1037063" y="1270400"/>
            <a:ext cx="11812678" cy="65310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lvl="0" indent="-457200" eaLnBrk="0" fontAlgn="base" hangingPunct="0">
              <a:lnSpc>
                <a:spcPct val="150000"/>
              </a:lnSpc>
              <a:spcBef>
                <a:spcPct val="0"/>
              </a:spcBef>
              <a:spcAft>
                <a:spcPct val="0"/>
              </a:spcAft>
              <a:buFont typeface="+mj-lt"/>
              <a:buAutoNum type="arabicPeriod"/>
            </a:pPr>
            <a:r>
              <a:rPr lang="en-US" altLang="en-US" sz="2400" b="1" dirty="0">
                <a:latin typeface="Times New Roman" panose="02020603050405020304" pitchFamily="18" charset="0"/>
                <a:cs typeface="Times New Roman" panose="02020603050405020304" pitchFamily="18" charset="0"/>
              </a:rPr>
              <a:t>Used small, non-speaker-wise datasets</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Same person’s voice appeared in both train and test → false high accuracy.</a:t>
            </a:r>
          </a:p>
          <a:p>
            <a:pPr marL="457200" lvl="0" indent="-457200" eaLnBrk="0" fontAlgn="base" hangingPunct="0">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457200" lvl="0" indent="-457200" eaLnBrk="0" fontAlgn="base" hangingPunct="0">
              <a:lnSpc>
                <a:spcPct val="150000"/>
              </a:lnSpc>
              <a:spcBef>
                <a:spcPct val="0"/>
              </a:spcBef>
              <a:spcAft>
                <a:spcPct val="0"/>
              </a:spcAft>
              <a:buFont typeface="+mj-lt"/>
              <a:buAutoNum type="arabicPeriod"/>
            </a:pPr>
            <a:r>
              <a:rPr lang="en-US" altLang="en-US" sz="2400" b="1" dirty="0">
                <a:latin typeface="Times New Roman" panose="02020603050405020304" pitchFamily="18" charset="0"/>
                <a:cs typeface="Times New Roman" panose="02020603050405020304" pitchFamily="18" charset="0"/>
              </a:rPr>
              <a:t>Focused only on handcrafted features (MFCC, pitch, energy)</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These miss </a:t>
            </a:r>
            <a:r>
              <a:rPr lang="en-US" altLang="en-US" sz="2200" b="1" dirty="0">
                <a:latin typeface="Times New Roman" panose="02020603050405020304" pitchFamily="18" charset="0"/>
                <a:cs typeface="Times New Roman" panose="02020603050405020304" pitchFamily="18" charset="0"/>
              </a:rPr>
              <a:t>long-term speech behavior</a:t>
            </a:r>
            <a:r>
              <a:rPr lang="en-US" altLang="en-US" sz="2200" dirty="0">
                <a:latin typeface="Times New Roman" panose="02020603050405020304" pitchFamily="18" charset="0"/>
                <a:cs typeface="Times New Roman" panose="02020603050405020304" pitchFamily="18" charset="0"/>
              </a:rPr>
              <a:t> like pauses, hesitation, slow speech.</a:t>
            </a:r>
          </a:p>
          <a:p>
            <a:pPr marL="457200" lvl="0" indent="-457200" eaLnBrk="0" fontAlgn="base" hangingPunct="0">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457200" lvl="0" indent="-457200" eaLnBrk="0" fontAlgn="base" hangingPunct="0">
              <a:lnSpc>
                <a:spcPct val="150000"/>
              </a:lnSpc>
              <a:spcBef>
                <a:spcPct val="0"/>
              </a:spcBef>
              <a:spcAft>
                <a:spcPct val="0"/>
              </a:spcAft>
              <a:buFont typeface="+mj-lt"/>
              <a:buAutoNum type="arabicPeriod"/>
            </a:pPr>
            <a:r>
              <a:rPr lang="en-US" altLang="en-US" sz="2400" b="1" dirty="0">
                <a:latin typeface="Times New Roman" panose="02020603050405020304" pitchFamily="18" charset="0"/>
                <a:cs typeface="Times New Roman" panose="02020603050405020304" pitchFamily="18" charset="0"/>
              </a:rPr>
              <a:t>Used CNN or traditional ML (SVM, Random Forest)</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CNN sees images, but </a:t>
            </a:r>
            <a:r>
              <a:rPr lang="en-US" altLang="en-US" sz="2200" b="1" dirty="0">
                <a:latin typeface="Times New Roman" panose="02020603050405020304" pitchFamily="18" charset="0"/>
                <a:cs typeface="Times New Roman" panose="02020603050405020304" pitchFamily="18" charset="0"/>
              </a:rPr>
              <a:t>speech is a time sequence</a:t>
            </a:r>
            <a:r>
              <a:rPr lang="en-US" altLang="en-US" sz="2200" dirty="0">
                <a:latin typeface="Times New Roman" panose="02020603050405020304" pitchFamily="18" charset="0"/>
                <a:cs typeface="Times New Roman" panose="02020603050405020304" pitchFamily="18" charset="0"/>
              </a:rPr>
              <a:t> → temporal behavior ignored.</a:t>
            </a:r>
          </a:p>
          <a:p>
            <a:pPr marL="457200" lvl="0" indent="-457200" eaLnBrk="0" fontAlgn="base" hangingPunct="0">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457200" lvl="0" indent="-457200" eaLnBrk="0" fontAlgn="base" hangingPunct="0">
              <a:lnSpc>
                <a:spcPct val="150000"/>
              </a:lnSpc>
              <a:spcBef>
                <a:spcPct val="0"/>
              </a:spcBef>
              <a:spcAft>
                <a:spcPct val="0"/>
              </a:spcAft>
              <a:buFont typeface="+mj-lt"/>
              <a:buAutoNum type="arabicPeriod"/>
            </a:pPr>
            <a:r>
              <a:rPr lang="en-US" altLang="en-US" sz="2400" b="1" dirty="0">
                <a:latin typeface="Times New Roman" panose="02020603050405020304" pitchFamily="18" charset="0"/>
                <a:cs typeface="Times New Roman" panose="02020603050405020304" pitchFamily="18" charset="0"/>
              </a:rPr>
              <a:t>No real-time application</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Most papers stop at accuracy numbers. No usable system for patients/doctors.</a:t>
            </a:r>
          </a:p>
          <a:p>
            <a:pPr marL="457200" lvl="0" indent="-457200" eaLnBrk="0" fontAlgn="base" hangingPunct="0">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457200" lvl="0" indent="-457200" eaLnBrk="0" fontAlgn="base" hangingPunct="0">
              <a:lnSpc>
                <a:spcPct val="150000"/>
              </a:lnSpc>
              <a:spcBef>
                <a:spcPct val="0"/>
              </a:spcBef>
              <a:spcAft>
                <a:spcPct val="0"/>
              </a:spcAft>
              <a:buFont typeface="+mj-lt"/>
              <a:buAutoNum type="arabicPeriod"/>
            </a:pPr>
            <a:r>
              <a:rPr lang="en-US" altLang="en-US" sz="2400" b="1" dirty="0">
                <a:latin typeface="Times New Roman" panose="02020603050405020304" pitchFamily="18" charset="0"/>
                <a:cs typeface="Times New Roman" panose="02020603050405020304" pitchFamily="18" charset="0"/>
              </a:rPr>
              <a:t>No clear mapping from speech behavior to dementia symptoms</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Models predict, but don’t relate to real dementia speech patterns.</a:t>
            </a:r>
          </a:p>
        </p:txBody>
      </p:sp>
      <p:cxnSp>
        <p:nvCxnSpPr>
          <p:cNvPr id="4" name="Straight Connector 3">
            <a:extLst>
              <a:ext uri="{FF2B5EF4-FFF2-40B4-BE49-F238E27FC236}">
                <a16:creationId xmlns:a16="http://schemas.microsoft.com/office/drawing/2014/main" id="{AA72A0BA-A5C9-264C-93E5-F7B064D316CE}"/>
              </a:ext>
            </a:extLst>
          </p:cNvPr>
          <p:cNvCxnSpPr>
            <a:cxnSpLocks/>
          </p:cNvCxnSpPr>
          <p:nvPr/>
        </p:nvCxnSpPr>
        <p:spPr>
          <a:xfrm>
            <a:off x="916453" y="836342"/>
            <a:ext cx="6019606"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13959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37672" y="217239"/>
            <a:ext cx="9677205" cy="858083"/>
          </a:xfrm>
          <a:prstGeom prst="rect">
            <a:avLst/>
          </a:prstGeom>
          <a:noFill/>
          <a:ln/>
        </p:spPr>
        <p:txBody>
          <a:bodyPr wrap="square" lIns="0" tIns="0" rIns="0" bIns="0" rtlCol="0" anchor="t"/>
          <a:lstStyle/>
          <a:p>
            <a:pPr marL="0" indent="0" algn="l">
              <a:lnSpc>
                <a:spcPts val="5550"/>
              </a:lnSpc>
              <a:buNone/>
            </a:pPr>
            <a:r>
              <a:rPr lang="en-US" sz="4000" b="1" dirty="0">
                <a:solidFill>
                  <a:srgbClr val="443728"/>
                </a:solidFill>
                <a:latin typeface="Times New Roman" panose="02020603050405020304" pitchFamily="18" charset="0"/>
                <a:ea typeface="Crimson Pro Bold" pitchFamily="34" charset="-122"/>
                <a:cs typeface="Times New Roman" panose="02020603050405020304" pitchFamily="18" charset="0"/>
              </a:rPr>
              <a:t>Proposed Solutions:</a:t>
            </a:r>
            <a:endParaRPr lang="en-US" sz="40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21050018-E46C-1A78-B790-77E42A0FF407}"/>
              </a:ext>
            </a:extLst>
          </p:cNvPr>
          <p:cNvCxnSpPr>
            <a:cxnSpLocks/>
          </p:cNvCxnSpPr>
          <p:nvPr/>
        </p:nvCxnSpPr>
        <p:spPr>
          <a:xfrm>
            <a:off x="637672" y="769434"/>
            <a:ext cx="0" cy="0"/>
          </a:xfrm>
          <a:prstGeom prst="line">
            <a:avLst/>
          </a:prstGeom>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1A853B2A-441B-D284-432F-8455A9615D2F}"/>
              </a:ext>
            </a:extLst>
          </p:cNvPr>
          <p:cNvSpPr txBox="1"/>
          <p:nvPr/>
        </p:nvSpPr>
        <p:spPr>
          <a:xfrm>
            <a:off x="637672" y="928493"/>
            <a:ext cx="11853747" cy="7095019"/>
          </a:xfrm>
          <a:prstGeom prst="rect">
            <a:avLst/>
          </a:prstGeom>
          <a:noFill/>
        </p:spPr>
        <p:txBody>
          <a:bodyPr wrap="square" rtlCol="0">
            <a:spAutoFit/>
          </a:bodyPr>
          <a:lstStyle/>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Speaker-wise train/test split</a:t>
            </a:r>
          </a:p>
          <a:p>
            <a:pPr>
              <a:lnSpc>
                <a:spcPct val="150000"/>
              </a:lnSpc>
            </a:pPr>
            <a:r>
              <a:rPr lang="en-US" sz="24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Prevents data leakage → realistic accuracy.</a:t>
            </a:r>
          </a:p>
          <a:p>
            <a:pPr>
              <a:lnSpc>
                <a:spcPct val="150000"/>
              </a:lnSpc>
            </a:pPr>
            <a:endParaRPr lang="en-US"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startAt="2"/>
            </a:pPr>
            <a:r>
              <a:rPr lang="en-US" sz="2400" b="1" dirty="0">
                <a:latin typeface="Times New Roman" panose="02020603050405020304" pitchFamily="18" charset="0"/>
                <a:cs typeface="Times New Roman" panose="02020603050405020304" pitchFamily="18" charset="0"/>
              </a:rPr>
              <a:t>Log-Mel Spectrogram used as time sequence (64×300)</a:t>
            </a:r>
          </a:p>
          <a:p>
            <a:pPr>
              <a:lnSpc>
                <a:spcPct val="150000"/>
              </a:lnSpc>
            </a:pPr>
            <a:r>
              <a:rPr lang="en-US" sz="24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Preserves full speech dynamics instead of small feature vectors.</a:t>
            </a:r>
          </a:p>
          <a:p>
            <a:pPr>
              <a:lnSpc>
                <a:spcPct val="150000"/>
              </a:lnSpc>
            </a:pPr>
            <a:endParaRPr lang="en-US"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startAt="3"/>
            </a:pPr>
            <a:r>
              <a:rPr lang="en-US" sz="2400" b="1" dirty="0">
                <a:latin typeface="Times New Roman" panose="02020603050405020304" pitchFamily="18" charset="0"/>
                <a:cs typeface="Times New Roman" panose="02020603050405020304" pitchFamily="18" charset="0"/>
              </a:rPr>
              <a:t>BiLSTM for temporal speech learning</a:t>
            </a:r>
          </a:p>
          <a:p>
            <a:pPr>
              <a:lnSpc>
                <a:spcPct val="150000"/>
              </a:lnSpc>
            </a:pPr>
            <a:r>
              <a:rPr lang="en-US"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Learns pauses, hesitation, slow speech — real dementia indicators.</a:t>
            </a:r>
          </a:p>
          <a:p>
            <a:pPr>
              <a:lnSpc>
                <a:spcPct val="150000"/>
              </a:lnSpc>
            </a:pPr>
            <a:endParaRPr lang="en-US"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startAt="4"/>
            </a:pPr>
            <a:r>
              <a:rPr lang="en-US" sz="2400" b="1" dirty="0">
                <a:latin typeface="Times New Roman" panose="02020603050405020304" pitchFamily="18" charset="0"/>
                <a:cs typeface="Times New Roman" panose="02020603050405020304" pitchFamily="18" charset="0"/>
              </a:rPr>
              <a:t>End-to-end system (Model + Flask Web App)</a:t>
            </a:r>
          </a:p>
          <a:p>
            <a:pPr>
              <a:lnSpc>
                <a:spcPct val="150000"/>
              </a:lnSpc>
            </a:pPr>
            <a:r>
              <a:rPr lang="en-US" sz="2200" dirty="0">
                <a:latin typeface="Times New Roman" panose="02020603050405020304" pitchFamily="18" charset="0"/>
                <a:cs typeface="Times New Roman" panose="02020603050405020304" pitchFamily="18" charset="0"/>
              </a:rPr>
              <a:t>	User can upload speech and get instant result.</a:t>
            </a:r>
          </a:p>
          <a:p>
            <a:pPr>
              <a:lnSpc>
                <a:spcPct val="150000"/>
              </a:lnSpc>
            </a:pPr>
            <a:endParaRPr lang="en-US"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startAt="5"/>
            </a:pPr>
            <a:r>
              <a:rPr lang="en-US" sz="2400" b="1" dirty="0">
                <a:latin typeface="Times New Roman" panose="02020603050405020304" pitchFamily="18" charset="0"/>
                <a:cs typeface="Times New Roman" panose="02020603050405020304" pitchFamily="18" charset="0"/>
              </a:rPr>
              <a:t>Model trained on behavioral speech patterns over time.</a:t>
            </a:r>
          </a:p>
          <a:p>
            <a:pPr>
              <a:lnSpc>
                <a:spcPct val="150000"/>
              </a:lnSpc>
            </a:pPr>
            <a:r>
              <a:rPr lang="en-US" sz="2200" dirty="0">
                <a:latin typeface="Times New Roman" panose="02020603050405020304" pitchFamily="18" charset="0"/>
                <a:cs typeface="Times New Roman" panose="02020603050405020304" pitchFamily="18" charset="0"/>
              </a:rPr>
              <a:t>	Closer to how neurologists observe dementia.</a:t>
            </a:r>
          </a:p>
        </p:txBody>
      </p:sp>
      <p:cxnSp>
        <p:nvCxnSpPr>
          <p:cNvPr id="13" name="Straight Connector 12">
            <a:extLst>
              <a:ext uri="{FF2B5EF4-FFF2-40B4-BE49-F238E27FC236}">
                <a16:creationId xmlns:a16="http://schemas.microsoft.com/office/drawing/2014/main" id="{86995814-262A-0DA5-43B9-ED8E155644D4}"/>
              </a:ext>
            </a:extLst>
          </p:cNvPr>
          <p:cNvCxnSpPr>
            <a:cxnSpLocks/>
          </p:cNvCxnSpPr>
          <p:nvPr/>
        </p:nvCxnSpPr>
        <p:spPr>
          <a:xfrm>
            <a:off x="637672" y="769434"/>
            <a:ext cx="4257713"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F8A742-4FDB-9CE3-659A-F63D1B59E9D7}"/>
              </a:ext>
            </a:extLst>
          </p:cNvPr>
          <p:cNvPicPr>
            <a:picLocks noChangeAspect="1"/>
          </p:cNvPicPr>
          <p:nvPr/>
        </p:nvPicPr>
        <p:blipFill>
          <a:blip r:embed="rId2"/>
          <a:srcRect l="-1987" t="5964" r="9741"/>
          <a:stretch>
            <a:fillRect/>
          </a:stretch>
        </p:blipFill>
        <p:spPr>
          <a:xfrm>
            <a:off x="8608743" y="468351"/>
            <a:ext cx="5174166" cy="3875046"/>
          </a:xfrm>
          <a:prstGeom prst="rect">
            <a:avLst/>
          </a:prstGeom>
        </p:spPr>
      </p:pic>
      <p:pic>
        <p:nvPicPr>
          <p:cNvPr id="11" name="Picture 10">
            <a:extLst>
              <a:ext uri="{FF2B5EF4-FFF2-40B4-BE49-F238E27FC236}">
                <a16:creationId xmlns:a16="http://schemas.microsoft.com/office/drawing/2014/main" id="{70CD59DC-CC56-FF3F-AD04-DAA5B841F784}"/>
              </a:ext>
            </a:extLst>
          </p:cNvPr>
          <p:cNvPicPr>
            <a:picLocks noChangeAspect="1"/>
          </p:cNvPicPr>
          <p:nvPr/>
        </p:nvPicPr>
        <p:blipFill>
          <a:blip r:embed="rId3"/>
          <a:srcRect t="4990" r="6822"/>
          <a:stretch>
            <a:fillRect/>
          </a:stretch>
        </p:blipFill>
        <p:spPr>
          <a:xfrm>
            <a:off x="2665141" y="468351"/>
            <a:ext cx="5274528" cy="3875046"/>
          </a:xfrm>
          <a:prstGeom prst="rect">
            <a:avLst/>
          </a:prstGeom>
        </p:spPr>
      </p:pic>
      <p:sp>
        <p:nvSpPr>
          <p:cNvPr id="12" name="Text 0">
            <a:extLst>
              <a:ext uri="{FF2B5EF4-FFF2-40B4-BE49-F238E27FC236}">
                <a16:creationId xmlns:a16="http://schemas.microsoft.com/office/drawing/2014/main" id="{966BCC00-C7AE-44E3-3486-939B4D04BA2A}"/>
              </a:ext>
            </a:extLst>
          </p:cNvPr>
          <p:cNvSpPr/>
          <p:nvPr/>
        </p:nvSpPr>
        <p:spPr>
          <a:xfrm>
            <a:off x="319912" y="153330"/>
            <a:ext cx="3376766" cy="708779"/>
          </a:xfrm>
          <a:prstGeom prst="rect">
            <a:avLst/>
          </a:prstGeom>
          <a:noFill/>
          <a:ln/>
        </p:spPr>
        <p:txBody>
          <a:bodyPr wrap="none" lIns="0" tIns="0" rIns="0" bIns="0" rtlCol="0" anchor="t"/>
          <a:lstStyle/>
          <a:p>
            <a:pPr marL="0" indent="0" algn="l">
              <a:lnSpc>
                <a:spcPts val="5550"/>
              </a:lnSpc>
              <a:buNone/>
            </a:pPr>
            <a:r>
              <a:rPr lang="en-US" sz="4000" b="1" dirty="0">
                <a:solidFill>
                  <a:srgbClr val="443728"/>
                </a:solidFill>
                <a:latin typeface="Times New Roman" panose="02020603050405020304" pitchFamily="18" charset="0"/>
                <a:ea typeface="Crimson Pro Bold" pitchFamily="34" charset="-122"/>
                <a:cs typeface="Times New Roman" panose="02020603050405020304" pitchFamily="18" charset="0"/>
              </a:rPr>
              <a:t>Graphs</a:t>
            </a:r>
            <a:r>
              <a:rPr lang="en-US" sz="4450" b="1" dirty="0">
                <a:solidFill>
                  <a:srgbClr val="443728"/>
                </a:solidFill>
                <a:latin typeface="Times New Roman" panose="02020603050405020304" pitchFamily="18" charset="0"/>
                <a:ea typeface="Crimson Pro Bold" pitchFamily="34" charset="-122"/>
                <a:cs typeface="Times New Roman" panose="02020603050405020304" pitchFamily="18" charset="0"/>
              </a:rPr>
              <a:t>: </a:t>
            </a:r>
            <a:endParaRPr lang="en-US" sz="445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CBFBD869-F01A-3D51-8DFD-FA21E0E07B89}"/>
              </a:ext>
            </a:extLst>
          </p:cNvPr>
          <p:cNvCxnSpPr/>
          <p:nvPr/>
        </p:nvCxnSpPr>
        <p:spPr>
          <a:xfrm>
            <a:off x="319912" y="862109"/>
            <a:ext cx="1754215" cy="0"/>
          </a:xfrm>
          <a:prstGeom prst="line">
            <a:avLst/>
          </a:prstGeom>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12AF5DDE-1108-FF78-416F-3D2F598C4B36}"/>
              </a:ext>
            </a:extLst>
          </p:cNvPr>
          <p:cNvPicPr>
            <a:picLocks noChangeAspect="1"/>
          </p:cNvPicPr>
          <p:nvPr/>
        </p:nvPicPr>
        <p:blipFill>
          <a:blip r:embed="rId4"/>
          <a:srcRect l="4381" t="4390" r="12936"/>
          <a:stretch>
            <a:fillRect/>
          </a:stretch>
        </p:blipFill>
        <p:spPr>
          <a:xfrm>
            <a:off x="2665141" y="4527395"/>
            <a:ext cx="5274528" cy="3233854"/>
          </a:xfrm>
          <a:prstGeom prst="rect">
            <a:avLst/>
          </a:prstGeom>
        </p:spPr>
      </p:pic>
      <p:pic>
        <p:nvPicPr>
          <p:cNvPr id="10" name="Picture 9">
            <a:extLst>
              <a:ext uri="{FF2B5EF4-FFF2-40B4-BE49-F238E27FC236}">
                <a16:creationId xmlns:a16="http://schemas.microsoft.com/office/drawing/2014/main" id="{90EC57AE-C4AB-71F7-41FF-A99C4EC18EAB}"/>
              </a:ext>
            </a:extLst>
          </p:cNvPr>
          <p:cNvPicPr>
            <a:picLocks noChangeAspect="1"/>
          </p:cNvPicPr>
          <p:nvPr/>
        </p:nvPicPr>
        <p:blipFill>
          <a:blip r:embed="rId5"/>
          <a:srcRect l="8209" t="4818" r="6356"/>
          <a:stretch>
            <a:fillRect/>
          </a:stretch>
        </p:blipFill>
        <p:spPr>
          <a:xfrm>
            <a:off x="8764859" y="4616605"/>
            <a:ext cx="5018050" cy="3233854"/>
          </a:xfrm>
          <a:prstGeom prst="rect">
            <a:avLst/>
          </a:prstGeom>
        </p:spPr>
      </p:pic>
    </p:spTree>
    <p:extLst>
      <p:ext uri="{BB962C8B-B14F-4D97-AF65-F5344CB8AC3E}">
        <p14:creationId xmlns:p14="http://schemas.microsoft.com/office/powerpoint/2010/main" val="1311260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674F41-11DD-076E-532D-F03C6ABD7733}"/>
              </a:ext>
            </a:extLst>
          </p:cNvPr>
          <p:cNvSpPr/>
          <p:nvPr/>
        </p:nvSpPr>
        <p:spPr>
          <a:xfrm>
            <a:off x="486187" y="306482"/>
            <a:ext cx="9677205" cy="858083"/>
          </a:xfrm>
          <a:prstGeom prst="rect">
            <a:avLst/>
          </a:prstGeom>
          <a:noFill/>
          <a:ln/>
        </p:spPr>
        <p:txBody>
          <a:bodyPr wrap="square" lIns="0" tIns="0" rIns="0" bIns="0" rtlCol="0" anchor="t"/>
          <a:lstStyle/>
          <a:p>
            <a:pPr marL="0" indent="0" algn="l">
              <a:lnSpc>
                <a:spcPts val="5550"/>
              </a:lnSpc>
              <a:buNone/>
            </a:pPr>
            <a:r>
              <a:rPr lang="en-US" sz="4000" b="1" dirty="0">
                <a:solidFill>
                  <a:srgbClr val="443728"/>
                </a:solidFill>
                <a:latin typeface="Times New Roman" panose="02020603050405020304" pitchFamily="18" charset="0"/>
                <a:ea typeface="Crimson Pro Bold" pitchFamily="34" charset="-122"/>
                <a:cs typeface="Times New Roman" panose="02020603050405020304" pitchFamily="18" charset="0"/>
              </a:rPr>
              <a:t>Impact of Dementia on the Brain:</a:t>
            </a:r>
            <a:endParaRPr lang="en-US" sz="4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656AF2D-98D2-F561-6EBA-119392D65273}"/>
              </a:ext>
            </a:extLst>
          </p:cNvPr>
          <p:cNvPicPr>
            <a:picLocks noChangeAspect="1"/>
          </p:cNvPicPr>
          <p:nvPr/>
        </p:nvPicPr>
        <p:blipFill>
          <a:blip r:embed="rId2"/>
          <a:stretch>
            <a:fillRect/>
          </a:stretch>
        </p:blipFill>
        <p:spPr>
          <a:xfrm>
            <a:off x="4966196" y="2266950"/>
            <a:ext cx="5107800" cy="4400550"/>
          </a:xfrm>
          <a:prstGeom prst="rect">
            <a:avLst/>
          </a:prstGeom>
        </p:spPr>
      </p:pic>
      <p:pic>
        <p:nvPicPr>
          <p:cNvPr id="11" name="Picture 10">
            <a:extLst>
              <a:ext uri="{FF2B5EF4-FFF2-40B4-BE49-F238E27FC236}">
                <a16:creationId xmlns:a16="http://schemas.microsoft.com/office/drawing/2014/main" id="{CD0B4766-BB4B-4589-CD7C-5331634C4384}"/>
              </a:ext>
            </a:extLst>
          </p:cNvPr>
          <p:cNvPicPr>
            <a:picLocks noChangeAspect="1"/>
          </p:cNvPicPr>
          <p:nvPr/>
        </p:nvPicPr>
        <p:blipFill>
          <a:blip r:embed="rId3"/>
          <a:stretch>
            <a:fillRect/>
          </a:stretch>
        </p:blipFill>
        <p:spPr>
          <a:xfrm>
            <a:off x="301083" y="2266950"/>
            <a:ext cx="4575718" cy="4400550"/>
          </a:xfrm>
          <a:prstGeom prst="rect">
            <a:avLst/>
          </a:prstGeom>
        </p:spPr>
      </p:pic>
      <p:pic>
        <p:nvPicPr>
          <p:cNvPr id="15" name="Picture 14">
            <a:extLst>
              <a:ext uri="{FF2B5EF4-FFF2-40B4-BE49-F238E27FC236}">
                <a16:creationId xmlns:a16="http://schemas.microsoft.com/office/drawing/2014/main" id="{D83DC822-B217-D9CE-B5D9-A19663488F0B}"/>
              </a:ext>
            </a:extLst>
          </p:cNvPr>
          <p:cNvPicPr>
            <a:picLocks noChangeAspect="1"/>
          </p:cNvPicPr>
          <p:nvPr/>
        </p:nvPicPr>
        <p:blipFill>
          <a:blip r:embed="rId4"/>
          <a:stretch>
            <a:fillRect/>
          </a:stretch>
        </p:blipFill>
        <p:spPr>
          <a:xfrm>
            <a:off x="10163392" y="2266950"/>
            <a:ext cx="4165925" cy="4400550"/>
          </a:xfrm>
          <a:prstGeom prst="rect">
            <a:avLst/>
          </a:prstGeom>
        </p:spPr>
      </p:pic>
      <p:cxnSp>
        <p:nvCxnSpPr>
          <p:cNvPr id="4" name="Straight Connector 3">
            <a:extLst>
              <a:ext uri="{FF2B5EF4-FFF2-40B4-BE49-F238E27FC236}">
                <a16:creationId xmlns:a16="http://schemas.microsoft.com/office/drawing/2014/main" id="{4AB1B185-408C-5F2B-52E2-A9B69CAB9711}"/>
              </a:ext>
            </a:extLst>
          </p:cNvPr>
          <p:cNvCxnSpPr/>
          <p:nvPr/>
        </p:nvCxnSpPr>
        <p:spPr>
          <a:xfrm>
            <a:off x="486187" y="892097"/>
            <a:ext cx="725739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06878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133951" y="930281"/>
            <a:ext cx="3376766" cy="708779"/>
          </a:xfrm>
          <a:prstGeom prst="rect">
            <a:avLst/>
          </a:prstGeom>
          <a:noFill/>
          <a:ln/>
        </p:spPr>
        <p:txBody>
          <a:bodyPr wrap="none" lIns="0" tIns="0" rIns="0" bIns="0" rtlCol="0" anchor="t"/>
          <a:lstStyle/>
          <a:p>
            <a:pPr marL="0" indent="0" algn="l">
              <a:lnSpc>
                <a:spcPts val="5550"/>
              </a:lnSpc>
              <a:buNone/>
            </a:pPr>
            <a:r>
              <a:rPr lang="en-US" sz="4000" b="1" dirty="0">
                <a:solidFill>
                  <a:srgbClr val="443728"/>
                </a:solidFill>
                <a:latin typeface="Times New Roman" panose="02020603050405020304" pitchFamily="18" charset="0"/>
                <a:ea typeface="Crimson Pro Bold" pitchFamily="34" charset="-122"/>
                <a:cs typeface="Times New Roman" panose="02020603050405020304" pitchFamily="18" charset="0"/>
              </a:rPr>
              <a:t>Conclusion: </a:t>
            </a:r>
            <a:endParaRPr lang="en-US" sz="4000" dirty="0">
              <a:latin typeface="Times New Roman" panose="02020603050405020304" pitchFamily="18" charset="0"/>
              <a:cs typeface="Times New Roman" panose="02020603050405020304" pitchFamily="18" charset="0"/>
            </a:endParaRPr>
          </a:p>
        </p:txBody>
      </p:sp>
      <p:sp>
        <p:nvSpPr>
          <p:cNvPr id="3" name="Text 1"/>
          <p:cNvSpPr/>
          <p:nvPr/>
        </p:nvSpPr>
        <p:spPr>
          <a:xfrm>
            <a:off x="1133951" y="2113664"/>
            <a:ext cx="12702659" cy="1142492"/>
          </a:xfrm>
          <a:prstGeom prst="rect">
            <a:avLst/>
          </a:prstGeom>
          <a:noFill/>
          <a:ln/>
        </p:spPr>
        <p:txBody>
          <a:bodyPr wrap="square" lIns="0" tIns="0" rIns="0" bIns="0" rtlCol="0" anchor="t"/>
          <a:lstStyle/>
          <a:p>
            <a:pPr>
              <a:lnSpc>
                <a:spcPct val="150000"/>
              </a:lnSpc>
            </a:pPr>
            <a:endParaRPr lang="en-US" sz="20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385EF491-A3ED-4810-37CF-79CF6AF1E2F1}"/>
              </a:ext>
            </a:extLst>
          </p:cNvPr>
          <p:cNvCxnSpPr/>
          <p:nvPr/>
        </p:nvCxnSpPr>
        <p:spPr>
          <a:xfrm>
            <a:off x="1133951" y="1527548"/>
            <a:ext cx="2534800" cy="0"/>
          </a:xfrm>
          <a:prstGeom prst="line">
            <a:avLst/>
          </a:prstGeom>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621C5CA5-0BEE-7D8C-1218-FCCBE27DD25F}"/>
              </a:ext>
            </a:extLst>
          </p:cNvPr>
          <p:cNvSpPr txBox="1"/>
          <p:nvPr/>
        </p:nvSpPr>
        <p:spPr>
          <a:xfrm>
            <a:off x="1133951" y="2063533"/>
            <a:ext cx="12009863" cy="4094198"/>
          </a:xfrm>
          <a:prstGeom prst="rect">
            <a:avLst/>
          </a:prstGeom>
          <a:noFill/>
        </p:spPr>
        <p:txBody>
          <a:bodyPr wrap="square">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This project shows that </a:t>
            </a:r>
            <a:r>
              <a:rPr lang="en-US" sz="2200" b="1" dirty="0">
                <a:latin typeface="Times New Roman" panose="02020603050405020304" pitchFamily="18" charset="0"/>
                <a:cs typeface="Times New Roman" panose="02020603050405020304" pitchFamily="18" charset="0"/>
              </a:rPr>
              <a:t>dementia can be identified by analyzing a person’s speech </a:t>
            </a:r>
            <a:r>
              <a:rPr lang="en-US" sz="2200" dirty="0">
                <a:latin typeface="Times New Roman" panose="02020603050405020304" pitchFamily="18" charset="0"/>
                <a:cs typeface="Times New Roman" panose="02020603050405020304" pitchFamily="18" charset="0"/>
              </a:rPr>
              <a:t>using a BiLSTM deep learning model. The model learns important speech patterns like </a:t>
            </a:r>
            <a:r>
              <a:rPr lang="en-US" sz="2200" b="1" dirty="0">
                <a:latin typeface="Times New Roman" panose="02020603050405020304" pitchFamily="18" charset="0"/>
                <a:cs typeface="Times New Roman" panose="02020603050405020304" pitchFamily="18" charset="0"/>
              </a:rPr>
              <a:t>pauses, hesitation, slow speaking, and irregular rhythm, </a:t>
            </a:r>
            <a:r>
              <a:rPr lang="en-US" sz="2200" dirty="0">
                <a:latin typeface="Times New Roman" panose="02020603050405020304" pitchFamily="18" charset="0"/>
                <a:cs typeface="Times New Roman" panose="02020603050405020304" pitchFamily="18" charset="0"/>
              </a:rPr>
              <a:t>which are common signs of cognitive decline. By testing the model </a:t>
            </a:r>
            <a:r>
              <a:rPr lang="en-US" sz="2200" b="1" dirty="0">
                <a:latin typeface="Times New Roman" panose="02020603050405020304" pitchFamily="18" charset="0"/>
                <a:cs typeface="Times New Roman" panose="02020603050405020304" pitchFamily="18" charset="0"/>
              </a:rPr>
              <a:t>speaker-wise</a:t>
            </a:r>
            <a:r>
              <a:rPr lang="en-US" sz="2200" dirty="0">
                <a:latin typeface="Times New Roman" panose="02020603050405020304" pitchFamily="18" charset="0"/>
                <a:cs typeface="Times New Roman" panose="02020603050405020304" pitchFamily="18" charset="0"/>
              </a:rPr>
              <a:t> (on new people it has never seen before), it achieved </a:t>
            </a:r>
            <a:r>
              <a:rPr lang="en-US" sz="2200" b="1" dirty="0">
                <a:latin typeface="Times New Roman" panose="02020603050405020304" pitchFamily="18" charset="0"/>
                <a:cs typeface="Times New Roman" panose="02020603050405020304" pitchFamily="18" charset="0"/>
              </a:rPr>
              <a:t>around 80% accuracy</a:t>
            </a:r>
            <a:r>
              <a:rPr lang="en-US" sz="2200" dirty="0">
                <a:latin typeface="Times New Roman" panose="02020603050405020304" pitchFamily="18" charset="0"/>
                <a:cs typeface="Times New Roman" panose="02020603050405020304" pitchFamily="18" charset="0"/>
              </a:rPr>
              <a:t>, proving that speech is a useful and reliable indicator for early dementia detection. The system is also connected to a </a:t>
            </a:r>
            <a:r>
              <a:rPr lang="en-US" sz="2200" b="1" dirty="0">
                <a:latin typeface="Times New Roman" panose="02020603050405020304" pitchFamily="18" charset="0"/>
                <a:cs typeface="Times New Roman" panose="02020603050405020304" pitchFamily="18" charset="0"/>
              </a:rPr>
              <a:t>simple web application</a:t>
            </a:r>
            <a:r>
              <a:rPr lang="en-US" sz="2200" dirty="0">
                <a:latin typeface="Times New Roman" panose="02020603050405020304" pitchFamily="18" charset="0"/>
                <a:cs typeface="Times New Roman" panose="02020603050405020304" pitchFamily="18" charset="0"/>
              </a:rPr>
              <a:t>, where anyone can upload a voice recording and instantly get the result. No medical devices or manual analysis are needed. This project proves that AI-based speech analysis can become a low-cost, easy, and practical tool for early dementia screening in real life.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ext 0"/>
          <p:cNvSpPr/>
          <p:nvPr/>
        </p:nvSpPr>
        <p:spPr>
          <a:xfrm>
            <a:off x="793790" y="1418511"/>
            <a:ext cx="13042821" cy="1451610"/>
          </a:xfrm>
          <a:prstGeom prst="rect">
            <a:avLst/>
          </a:prstGeom>
          <a:noFill/>
          <a:ln/>
        </p:spPr>
        <p:txBody>
          <a:bodyPr wrap="square" lIns="0" tIns="0" rIns="0" bIns="0" rtlCol="0" anchor="t"/>
          <a:lstStyle/>
          <a:p>
            <a:pPr marL="0" indent="0" algn="l">
              <a:lnSpc>
                <a:spcPts val="2850"/>
              </a:lnSpc>
              <a:buNone/>
            </a:pPr>
            <a:endParaRPr lang="en-US" sz="1750" dirty="0">
              <a:latin typeface="Times New Roman" panose="02020603050405020304" pitchFamily="18" charset="0"/>
              <a:cs typeface="Times New Roman" panose="02020603050405020304" pitchFamily="18" charset="0"/>
            </a:endParaRPr>
          </a:p>
        </p:txBody>
      </p:sp>
      <p:sp>
        <p:nvSpPr>
          <p:cNvPr id="3" name="Text 1"/>
          <p:cNvSpPr/>
          <p:nvPr/>
        </p:nvSpPr>
        <p:spPr>
          <a:xfrm>
            <a:off x="793790" y="3096935"/>
            <a:ext cx="13042821" cy="2126456"/>
          </a:xfrm>
          <a:prstGeom prst="rect">
            <a:avLst/>
          </a:prstGeom>
          <a:noFill/>
          <a:ln/>
        </p:spPr>
        <p:txBody>
          <a:bodyPr wrap="none" lIns="0" tIns="0" rIns="0" bIns="0" rtlCol="0" anchor="t"/>
          <a:lstStyle/>
          <a:p>
            <a:pPr marL="0" indent="0" algn="ctr">
              <a:lnSpc>
                <a:spcPts val="16700"/>
              </a:lnSpc>
              <a:buNone/>
            </a:pPr>
            <a:r>
              <a:rPr lang="en-US" sz="13350" b="1" dirty="0">
                <a:solidFill>
                  <a:srgbClr val="443728"/>
                </a:solidFill>
                <a:latin typeface="Times New Roman" panose="02020603050405020304" pitchFamily="18" charset="0"/>
                <a:ea typeface="Crimson Pro Bold" pitchFamily="34" charset="-122"/>
                <a:cs typeface="Times New Roman" panose="02020603050405020304" pitchFamily="18" charset="0"/>
              </a:rPr>
              <a:t>Thank You</a:t>
            </a:r>
            <a:endParaRPr lang="en-US" sz="13350" dirty="0">
              <a:latin typeface="Times New Roman" panose="02020603050405020304" pitchFamily="18" charset="0"/>
              <a:cs typeface="Times New Roman" panose="02020603050405020304" pitchFamily="18" charset="0"/>
            </a:endParaRPr>
          </a:p>
        </p:txBody>
      </p:sp>
      <p:sp>
        <p:nvSpPr>
          <p:cNvPr id="4" name="Text 2"/>
          <p:cNvSpPr/>
          <p:nvPr/>
        </p:nvSpPr>
        <p:spPr>
          <a:xfrm>
            <a:off x="793790" y="5563553"/>
            <a:ext cx="13042821" cy="1451610"/>
          </a:xfrm>
          <a:prstGeom prst="rect">
            <a:avLst/>
          </a:prstGeom>
          <a:noFill/>
          <a:ln/>
        </p:spPr>
        <p:txBody>
          <a:bodyPr wrap="square" lIns="0" tIns="0" rIns="0" bIns="0" rtlCol="0" anchor="t"/>
          <a:lstStyle/>
          <a:p>
            <a:pPr marL="0" indent="0" algn="l">
              <a:lnSpc>
                <a:spcPts val="2850"/>
              </a:lnSpc>
              <a:buNone/>
            </a:pPr>
            <a:endParaRPr lang="en-US" sz="1750" dirty="0">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TM03457510[[fn=Savon]]</Template>
  <TotalTime>556</TotalTime>
  <Words>982</Words>
  <Application>Microsoft Office PowerPoint</Application>
  <PresentationFormat>Custom</PresentationFormat>
  <Paragraphs>97</Paragraphs>
  <Slides>13</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Garamond</vt:lpstr>
      <vt:lpstr>Times New Roman</vt:lpstr>
      <vt:lpstr>Century Gothic</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Madhu Madhu</dc:creator>
  <cp:lastModifiedBy>Madhu Madhu</cp:lastModifiedBy>
  <cp:revision>16</cp:revision>
  <dcterms:created xsi:type="dcterms:W3CDTF">2025-10-04T17:50:58Z</dcterms:created>
  <dcterms:modified xsi:type="dcterms:W3CDTF">2026-03-31T13:12:38Z</dcterms:modified>
</cp:coreProperties>
</file>